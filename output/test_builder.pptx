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2" r:id="rId3"/>
    <p:sldId id="263" r:id="rId4"/>
    <p:sldId id="264" r:id="rId5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A3644"/>
    <a:srgbClr val="64748B"/>
    <a:srgbClr val="475569"/>
    <a:srgbClr val="1C1C1C"/>
    <a:srgbClr val="2F4F4F"/>
    <a:srgbClr val="1E293B"/>
    <a:srgbClr val="1F1B1D"/>
    <a:srgbClr val="616161"/>
    <a:srgbClr val="201A1E"/>
    <a:srgbClr val="472D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7" d="100"/>
          <a:sy n="97" d="100"/>
        </p:scale>
        <p:origin x="996" y="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microsoft.com/office/2007/relationships/hdphoto" Target="../media/hdphoto1.wdp"/><Relationship Id="rId7" Type="http://schemas.openxmlformats.org/officeDocument/2006/relationships/image" Target="../media/image5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microsoft.com/office/2007/relationships/hdphoto" Target="../media/hdphoto1.wdp"/><Relationship Id="rId7" Type="http://schemas.openxmlformats.org/officeDocument/2006/relationships/image" Target="../media/image5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microsoft.com/office/2007/relationships/hdphoto" Target="../media/hdphoto1.wdp"/><Relationship Id="rId7" Type="http://schemas.openxmlformats.org/officeDocument/2006/relationships/image" Target="../media/image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microsoft.com/office/2007/relationships/hdphoto" Target="../media/hdphoto1.wdp"/><Relationship Id="rId7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6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7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7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7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7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69858" y="380999"/>
            <a:ext cx="5781368" cy="1112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6600" b="0" i="0" u="none" dirty="0">
                <a:solidFill>
                  <a:srgbClr val="0F172A"/>
                </a:solidFill>
                <a:latin typeface="Poppins ExtraBold"/>
              </a:rPr>
              <a:t>cultivate</a:t>
            </a:r>
            <a:endParaRPr sz="66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652935" y="1760255"/>
            <a:ext cx="599829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i="0" u="none" dirty="0">
                <a:solidFill>
                  <a:srgbClr val="1E293B"/>
                </a:solidFill>
                <a:latin typeface="Poppins"/>
              </a:rPr>
              <a:t>To prepare and use land for growing crops or plants.</a:t>
            </a:r>
            <a:endParaRPr sz="2000" b="1" i="0" u="none" dirty="0">
              <a:solidFill>
                <a:srgbClr val="1E293B"/>
              </a:solidFill>
              <a:latin typeface="Poppins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197AB29-D224-5631-2BF3-17C2CE43B15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C637730-1B9E-59C6-288A-947E01A8B966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cultivate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cultivates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cultivated</a:t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537A4F-4D0A-BFF3-9AE8-11D8B8210CD5}"/>
              </a:ext>
            </a:extLst>
          </p:cNvPr>
          <p:cNvSpPr txBox="1"/>
          <p:nvPr/>
        </p:nvSpPr>
        <p:spPr>
          <a:xfrm>
            <a:off x="4567832" y="2392569"/>
            <a:ext cx="47236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475569"/>
                </a:solidFill>
              </a:rPr>
              <a:t>जोतना,</a:t>
            </a:r>
          </a:p>
          <a:p>
            <a:pPr algn="ctr"/>
            <a:r>
              <a:rPr lang="en-GB" b="1" dirty="0">
                <a:solidFill>
                  <a:srgbClr val="475569"/>
                </a:solidFill>
              </a:rPr>
              <a:t> കൃഷിചെയ്യുക,</a:t>
            </a:r>
            <a:br>
              <a:rPr lang="en-GB" b="1" dirty="0">
                <a:solidFill>
                  <a:srgbClr val="475569"/>
                </a:solidFill>
              </a:rPr>
            </a:br>
            <a:r>
              <a:rPr lang="en-GB" b="1" dirty="0">
                <a:solidFill>
                  <a:srgbClr val="475569"/>
                </a:solidFill>
              </a:rPr>
              <a:t>பயிரிடு</a:t>
            </a:r>
            <a:endParaRPr lang="en-IN" b="1" dirty="0">
              <a:solidFill>
                <a:srgbClr val="475569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546E987-1B6A-FE97-9592-C215495A06B3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64748B"/>
                </a:solidFill>
              </a:rPr>
              <a:t>1/3</a:t>
            </a:r>
            <a:endParaRPr lang="en-IN" b="1" dirty="0">
              <a:solidFill>
                <a:srgbClr val="64748B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9ED7E96-20C9-C5ED-2E4C-C2B78876EA54}"/>
              </a:ext>
            </a:extLst>
          </p:cNvPr>
          <p:cNvSpPr txBox="1"/>
          <p:nvPr/>
        </p:nvSpPr>
        <p:spPr>
          <a:xfrm>
            <a:off x="7277098" y="142551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/ˈkʌl.tɪ.veɪt/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18" name="Picture 17" descr="001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EA1FAF-FDF6-D262-4A6E-8F98ACE4A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>
            <a:extLst>
              <a:ext uri="{FF2B5EF4-FFF2-40B4-BE49-F238E27FC236}">
                <a16:creationId xmlns:a16="http://schemas.microsoft.com/office/drawing/2014/main" id="{DA81A8A7-71C2-A8EE-E03C-BD486F868A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2A1C92A-00A5-A774-61BC-3DADB71CCAEC}"/>
              </a:ext>
            </a:extLst>
          </p:cNvPr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5EB1EB-12A8-4C78-7555-C064C72F1E0A}"/>
              </a:ext>
            </a:extLst>
          </p:cNvPr>
          <p:cNvSpPr txBox="1"/>
          <p:nvPr/>
        </p:nvSpPr>
        <p:spPr>
          <a:xfrm>
            <a:off x="7277098" y="142551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/ˈkʌl.tɪ.veɪt/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5" name="Picture 4" descr="image.png">
            <a:extLst>
              <a:ext uri="{FF2B5EF4-FFF2-40B4-BE49-F238E27FC236}">
                <a16:creationId xmlns:a16="http://schemas.microsoft.com/office/drawing/2014/main" id="{E92E79E2-5CAD-D379-5C20-8A1707B00B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B967A89-D0B6-0911-7979-8252ABD5BB96}"/>
              </a:ext>
            </a:extLst>
          </p:cNvPr>
          <p:cNvSpPr txBox="1"/>
          <p:nvPr/>
        </p:nvSpPr>
        <p:spPr>
          <a:xfrm>
            <a:off x="5869858" y="380999"/>
            <a:ext cx="5781368" cy="1112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6600" b="0" i="0" u="none" dirty="0">
                <a:solidFill>
                  <a:srgbClr val="0F172A"/>
                </a:solidFill>
                <a:latin typeface="Poppins ExtraBold"/>
              </a:rPr>
              <a:t>cultivate</a:t>
            </a:r>
            <a:endParaRPr sz="66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2C42FA-D19F-3E1A-4385-361C1AE5B3B6}"/>
              </a:ext>
            </a:extLst>
          </p:cNvPr>
          <p:cNvSpPr txBox="1"/>
          <p:nvPr/>
        </p:nvSpPr>
        <p:spPr>
          <a:xfrm>
            <a:off x="5652935" y="1760255"/>
            <a:ext cx="599829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i="0" u="none" dirty="0">
                <a:solidFill>
                  <a:srgbClr val="1E293B"/>
                </a:solidFill>
                <a:latin typeface="Poppins"/>
              </a:rPr>
              <a:t>To prepare and use land for growing crops or plants.</a:t>
            </a:r>
            <a:endParaRPr sz="2000" b="1" i="0" u="none" dirty="0">
              <a:solidFill>
                <a:srgbClr val="1E293B"/>
              </a:solidFill>
              <a:latin typeface="Poppins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BA704EA-DBA6-7A74-1E29-E0E399DC950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423991E-464C-988E-7B7C-445D9C180856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cultivate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cultivates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cultivated</a:t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6EB2755-2C05-216C-E7F7-E2AE9F2E1A93}"/>
              </a:ext>
            </a:extLst>
          </p:cNvPr>
          <p:cNvSpPr txBox="1"/>
          <p:nvPr/>
        </p:nvSpPr>
        <p:spPr>
          <a:xfrm>
            <a:off x="2006242" y="4194646"/>
            <a:ext cx="964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The local family cultivated organic vegetables on their small farm last year.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A70CE9C-16FA-6AB7-2AEC-05853ABB59B8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64748B"/>
                </a:solidFill>
              </a:rPr>
              <a:t>1/3</a:t>
            </a:r>
            <a:endParaRPr lang="en-IN" b="1" dirty="0">
              <a:solidFill>
                <a:srgbClr val="64748B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6F94828-D644-2796-92D6-FAF160DB0C25}"/>
              </a:ext>
            </a:extLst>
          </p:cNvPr>
          <p:cNvSpPr txBox="1"/>
          <p:nvPr/>
        </p:nvSpPr>
        <p:spPr>
          <a:xfrm>
            <a:off x="4567832" y="2392569"/>
            <a:ext cx="47236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475569"/>
                </a:solidFill>
              </a:rPr>
              <a:t>जोतना,</a:t>
            </a:r>
          </a:p>
          <a:p>
            <a:pPr algn="ctr"/>
            <a:r>
              <a:rPr lang="en-GB" b="1" dirty="0">
                <a:solidFill>
                  <a:srgbClr val="475569"/>
                </a:solidFill>
              </a:rPr>
              <a:t> കൃഷിചെയ്യുക,</a:t>
            </a:r>
            <a:br>
              <a:rPr lang="en-GB" b="1" dirty="0">
                <a:solidFill>
                  <a:srgbClr val="475569"/>
                </a:solidFill>
              </a:rPr>
            </a:br>
            <a:r>
              <a:rPr lang="en-GB" b="1" dirty="0">
                <a:solidFill>
                  <a:srgbClr val="475569"/>
                </a:solidFill>
              </a:rPr>
              <a:t>பயிரிடு</a:t>
            </a:r>
            <a:endParaRPr lang="en-IN" b="1" dirty="0">
              <a:solidFill>
                <a:srgbClr val="475569"/>
              </a:solidFill>
            </a:endParaRPr>
          </a:p>
        </p:txBody>
      </p:sp>
      <p:pic>
        <p:nvPicPr>
          <p:cNvPr id="20" name="Picture 19" descr="001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1337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5A4F9D1-DD01-2A0C-BA1C-F5AE3F2DDF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>
            <a:extLst>
              <a:ext uri="{FF2B5EF4-FFF2-40B4-BE49-F238E27FC236}">
                <a16:creationId xmlns:a16="http://schemas.microsoft.com/office/drawing/2014/main" id="{1B1DB53D-A1BD-2743-4573-1146636AF1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1C5957D-72BF-A1C1-2CDF-3D465AEF83B5}"/>
              </a:ext>
            </a:extLst>
          </p:cNvPr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5401A7-5F33-EF8A-B948-FFD601450D38}"/>
              </a:ext>
            </a:extLst>
          </p:cNvPr>
          <p:cNvSpPr txBox="1"/>
          <p:nvPr/>
        </p:nvSpPr>
        <p:spPr>
          <a:xfrm>
            <a:off x="7277098" y="142551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/ˈkʌl.tɪ.veɪt/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5" name="Picture 4" descr="image.png">
            <a:extLst>
              <a:ext uri="{FF2B5EF4-FFF2-40B4-BE49-F238E27FC236}">
                <a16:creationId xmlns:a16="http://schemas.microsoft.com/office/drawing/2014/main" id="{F373F6F7-FF94-4E2E-08A0-C01BE84F1F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D94D832-421C-0BB8-B4EF-2E8C316DDE03}"/>
              </a:ext>
            </a:extLst>
          </p:cNvPr>
          <p:cNvSpPr txBox="1"/>
          <p:nvPr/>
        </p:nvSpPr>
        <p:spPr>
          <a:xfrm>
            <a:off x="5869858" y="380999"/>
            <a:ext cx="5781368" cy="1112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6600" b="0" i="0" u="none" dirty="0">
                <a:solidFill>
                  <a:srgbClr val="0F172A"/>
                </a:solidFill>
                <a:latin typeface="Poppins ExtraBold"/>
              </a:rPr>
              <a:t>cultivate</a:t>
            </a:r>
            <a:endParaRPr sz="66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53BDB0-0299-1C06-2767-B086D47E946D}"/>
              </a:ext>
            </a:extLst>
          </p:cNvPr>
          <p:cNvSpPr txBox="1"/>
          <p:nvPr/>
        </p:nvSpPr>
        <p:spPr>
          <a:xfrm>
            <a:off x="5652935" y="1760255"/>
            <a:ext cx="599829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i="0" u="none" dirty="0">
                <a:solidFill>
                  <a:srgbClr val="1E293B"/>
                </a:solidFill>
                <a:latin typeface="Poppins"/>
              </a:rPr>
              <a:t>To prepare and use land for growing crops or plants.</a:t>
            </a:r>
            <a:endParaRPr sz="2000" b="1" i="0" u="none" dirty="0">
              <a:solidFill>
                <a:srgbClr val="1E293B"/>
              </a:solidFill>
              <a:latin typeface="Poppins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2892612-1B2E-1773-39E7-B2EC7757F34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7820A38-01D4-E7ED-BDB7-553169751532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cultivate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cultivates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cultivated</a:t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A8D98F2-5A50-2D14-CF77-9338B044F8B0}"/>
              </a:ext>
            </a:extLst>
          </p:cNvPr>
          <p:cNvSpPr txBox="1"/>
          <p:nvPr/>
        </p:nvSpPr>
        <p:spPr>
          <a:xfrm>
            <a:off x="2006242" y="4194646"/>
            <a:ext cx="964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The local family cultivated organic vegetables on their small farm last year.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5D4EDAF-AC6D-61E3-3AE8-5AF4B7AA566D}"/>
              </a:ext>
            </a:extLst>
          </p:cNvPr>
          <p:cNvSpPr txBox="1"/>
          <p:nvPr/>
        </p:nvSpPr>
        <p:spPr>
          <a:xfrm>
            <a:off x="2895599" y="4948361"/>
            <a:ext cx="86671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2A3644"/>
                </a:solidFill>
                <a:latin typeface="Poppins ExtraBold" panose="00000900000000000000" pitchFamily="2" charset="0"/>
                <a:cs typeface="Poppins ExtraBold" panose="00000900000000000000" pitchFamily="2" charset="0"/>
              </a:rPr>
              <a:t>Farmers cultivate the fertile soil every spring to prepare for planting crops.</a:t>
            </a:r>
            <a:endParaRPr lang="en-IN" sz="2400" b="1" dirty="0">
              <a:solidFill>
                <a:srgbClr val="2A3644"/>
              </a:solidFill>
              <a:latin typeface="Poppins ExtraBold" panose="00000900000000000000" pitchFamily="2" charset="0"/>
              <a:cs typeface="Poppins ExtraBold" panose="00000900000000000000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9958E69-D62B-402C-537C-2585F5407329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64748B"/>
                </a:solidFill>
              </a:rPr>
              <a:t>1/3</a:t>
            </a:r>
            <a:endParaRPr lang="en-IN" b="1" dirty="0">
              <a:solidFill>
                <a:srgbClr val="64748B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D98B3D8-B85C-5D71-F240-2608622284BF}"/>
              </a:ext>
            </a:extLst>
          </p:cNvPr>
          <p:cNvSpPr txBox="1"/>
          <p:nvPr/>
        </p:nvSpPr>
        <p:spPr>
          <a:xfrm>
            <a:off x="4567832" y="2392569"/>
            <a:ext cx="47236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475569"/>
                </a:solidFill>
              </a:rPr>
              <a:t>जोतना,</a:t>
            </a:r>
          </a:p>
          <a:p>
            <a:pPr algn="ctr"/>
            <a:r>
              <a:rPr lang="en-GB" b="1" dirty="0">
                <a:solidFill>
                  <a:srgbClr val="475569"/>
                </a:solidFill>
              </a:rPr>
              <a:t> കൃഷിചെയ്യുക,</a:t>
            </a:r>
            <a:br>
              <a:rPr lang="en-GB" b="1" dirty="0">
                <a:solidFill>
                  <a:srgbClr val="475569"/>
                </a:solidFill>
              </a:rPr>
            </a:br>
            <a:r>
              <a:rPr lang="en-GB" b="1" dirty="0">
                <a:solidFill>
                  <a:srgbClr val="475569"/>
                </a:solidFill>
              </a:rPr>
              <a:t>பயிரிடு</a:t>
            </a:r>
            <a:endParaRPr lang="en-IN" b="1" dirty="0">
              <a:solidFill>
                <a:srgbClr val="475569"/>
              </a:solidFill>
            </a:endParaRPr>
          </a:p>
        </p:txBody>
      </p:sp>
      <p:pic>
        <p:nvPicPr>
          <p:cNvPr id="23" name="Picture 22" descr="001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60230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63B76A-1DDC-E908-B715-4D5AD5C46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>
            <a:extLst>
              <a:ext uri="{FF2B5EF4-FFF2-40B4-BE49-F238E27FC236}">
                <a16:creationId xmlns:a16="http://schemas.microsoft.com/office/drawing/2014/main" id="{4C255B0C-908B-760D-5C59-55332535CA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7D54AEB-14D2-6B3E-61DD-29C1EC335912}"/>
              </a:ext>
            </a:extLst>
          </p:cNvPr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AEFFF9-A6D7-E055-48B4-F328F40CD214}"/>
              </a:ext>
            </a:extLst>
          </p:cNvPr>
          <p:cNvSpPr txBox="1"/>
          <p:nvPr/>
        </p:nvSpPr>
        <p:spPr>
          <a:xfrm>
            <a:off x="7277098" y="1435579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/ˈkʌl.tɪ.veɪt/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5" name="Picture 4" descr="image.png">
            <a:extLst>
              <a:ext uri="{FF2B5EF4-FFF2-40B4-BE49-F238E27FC236}">
                <a16:creationId xmlns:a16="http://schemas.microsoft.com/office/drawing/2014/main" id="{5329CAB9-5A4C-4E45-9F44-064B8C9040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E19242B-B8EF-E742-6363-D66D6E904EA3}"/>
              </a:ext>
            </a:extLst>
          </p:cNvPr>
          <p:cNvSpPr txBox="1"/>
          <p:nvPr/>
        </p:nvSpPr>
        <p:spPr>
          <a:xfrm>
            <a:off x="5869858" y="380999"/>
            <a:ext cx="5781368" cy="1112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6600" b="0" i="0" u="none" dirty="0">
                <a:solidFill>
                  <a:srgbClr val="0F172A"/>
                </a:solidFill>
                <a:latin typeface="Poppins ExtraBold"/>
              </a:rPr>
              <a:t>cultivate</a:t>
            </a:r>
            <a:endParaRPr sz="66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9FA01F0-8011-B7A8-5886-E85AF764AA61}"/>
              </a:ext>
            </a:extLst>
          </p:cNvPr>
          <p:cNvSpPr txBox="1"/>
          <p:nvPr/>
        </p:nvSpPr>
        <p:spPr>
          <a:xfrm>
            <a:off x="5652935" y="1760255"/>
            <a:ext cx="599829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i="0" u="none" dirty="0">
                <a:solidFill>
                  <a:srgbClr val="1E293B"/>
                </a:solidFill>
                <a:latin typeface="Poppins"/>
              </a:rPr>
              <a:t>To prepare and use land for growing crops or plants.</a:t>
            </a:r>
            <a:endParaRPr sz="2000" b="1" i="0" u="none" dirty="0">
              <a:solidFill>
                <a:srgbClr val="1E293B"/>
              </a:solidFill>
              <a:latin typeface="Poppins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AD9AD66-C36B-CDA3-60DF-3DE8F53026D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77578E5-5932-FA5C-39E7-2BE2D9C2CF6B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cultivate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cultivates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cultivated</a:t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234DFEC-C01E-8667-4AB0-67B44270F3F0}"/>
              </a:ext>
            </a:extLst>
          </p:cNvPr>
          <p:cNvSpPr txBox="1"/>
          <p:nvPr/>
        </p:nvSpPr>
        <p:spPr>
          <a:xfrm>
            <a:off x="2006242" y="4194646"/>
            <a:ext cx="964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The local family cultivated organic vegetables on their small farm last year.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B52620E-AE51-05B1-BFE9-0843E5D61517}"/>
              </a:ext>
            </a:extLst>
          </p:cNvPr>
          <p:cNvSpPr txBox="1"/>
          <p:nvPr/>
        </p:nvSpPr>
        <p:spPr>
          <a:xfrm>
            <a:off x="2895599" y="4948361"/>
            <a:ext cx="80715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2A3644"/>
                </a:solidFill>
                <a:latin typeface="Poppins ExtraBold" panose="00000900000000000000" pitchFamily="2" charset="0"/>
                <a:cs typeface="Poppins ExtraBold" panose="00000900000000000000" pitchFamily="2" charset="0"/>
              </a:rPr>
              <a:t>Farmers cultivate the fertile soil every spring to prepare for planting crops.</a:t>
            </a:r>
            <a:endParaRPr lang="en-IN" sz="2400" b="1" dirty="0">
              <a:solidFill>
                <a:srgbClr val="2A3644"/>
              </a:solidFill>
              <a:latin typeface="Poppins ExtraBold" panose="00000900000000000000" pitchFamily="2" charset="0"/>
              <a:cs typeface="Poppins ExtraBold" panose="00000900000000000000" pitchFamily="2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799948D-503D-1BC8-A206-EA54AED1F16D}"/>
              </a:ext>
            </a:extLst>
          </p:cNvPr>
          <p:cNvSpPr txBox="1"/>
          <p:nvPr/>
        </p:nvSpPr>
        <p:spPr>
          <a:xfrm>
            <a:off x="3794638" y="5554756"/>
            <a:ext cx="74682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2A3644"/>
                </a:solidFill>
                <a:latin typeface="Poppins ExtraBold" panose="00000900000000000000" pitchFamily="2" charset="0"/>
                <a:cs typeface="Poppins ExtraBold" panose="00000900000000000000" pitchFamily="2" charset="0"/>
              </a:rPr>
              <a:t>Next season, our community will cultivate a large field of sweet corn.</a:t>
            </a:r>
            <a:endParaRPr lang="en-IN" sz="2400" b="1" dirty="0">
              <a:solidFill>
                <a:srgbClr val="2A3644"/>
              </a:solidFill>
              <a:latin typeface="Poppins ExtraBold" panose="00000900000000000000" pitchFamily="2" charset="0"/>
              <a:cs typeface="Poppins ExtraBold" panose="00000900000000000000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B5960A-98FD-C624-A616-C23C3B183BE0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64748B"/>
                </a:solidFill>
              </a:rPr>
              <a:t>1/3</a:t>
            </a:r>
            <a:endParaRPr lang="en-IN" b="1" dirty="0">
              <a:solidFill>
                <a:srgbClr val="64748B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1AE4CF2-87B2-9E90-5571-EBB293BCDA70}"/>
              </a:ext>
            </a:extLst>
          </p:cNvPr>
          <p:cNvSpPr txBox="1"/>
          <p:nvPr/>
        </p:nvSpPr>
        <p:spPr>
          <a:xfrm>
            <a:off x="4567832" y="2392569"/>
            <a:ext cx="47236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475569"/>
                </a:solidFill>
              </a:rPr>
              <a:t>जोतना,</a:t>
            </a:r>
          </a:p>
          <a:p>
            <a:pPr algn="ctr"/>
            <a:r>
              <a:rPr lang="en-GB" b="1" dirty="0">
                <a:solidFill>
                  <a:srgbClr val="475569"/>
                </a:solidFill>
              </a:rPr>
              <a:t> കൃഷിചെയ്യുക,</a:t>
            </a:r>
            <a:br>
              <a:rPr lang="en-GB" b="1" dirty="0">
                <a:solidFill>
                  <a:srgbClr val="475569"/>
                </a:solidFill>
              </a:rPr>
            </a:br>
            <a:r>
              <a:rPr lang="en-GB" b="1" dirty="0">
                <a:solidFill>
                  <a:srgbClr val="475569"/>
                </a:solidFill>
              </a:rPr>
              <a:t>பயிரிடு</a:t>
            </a:r>
            <a:endParaRPr lang="en-IN" b="1" dirty="0">
              <a:solidFill>
                <a:srgbClr val="475569"/>
              </a:solidFill>
            </a:endParaRPr>
          </a:p>
        </p:txBody>
      </p:sp>
      <p:pic>
        <p:nvPicPr>
          <p:cNvPr id="21" name="Picture 20" descr="001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3314893"/>
      </p:ext>
    </p:extLst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69858" y="380999"/>
            <a:ext cx="5781368" cy="1112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6600" b="0" i="0" u="none" dirty="0">
                <a:solidFill>
                  <a:srgbClr val="0F172A"/>
                </a:solidFill>
                <a:latin typeface="Poppins ExtraBold"/>
              </a:rPr>
              <a:t>harvest</a:t>
            </a:r>
            <a:endParaRPr sz="66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652935" y="1760255"/>
            <a:ext cx="599829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i="0" u="none" dirty="0">
                <a:solidFill>
                  <a:srgbClr val="1E293B"/>
                </a:solidFill>
                <a:latin typeface="Poppins"/>
              </a:rPr>
              <a:t>To gather a ripe crop from the fields.</a:t>
            </a:r>
            <a:endParaRPr sz="2000" b="1" i="0" u="none" dirty="0">
              <a:solidFill>
                <a:srgbClr val="1E293B"/>
              </a:solidFill>
              <a:latin typeface="Poppins"/>
            </a:endParaRP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C637730-1B9E-59C6-288A-947E01A8B966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harvest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harvests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harvested</a:t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537A4F-4D0A-BFF3-9AE8-11D8B8210CD5}"/>
              </a:ext>
            </a:extLst>
          </p:cNvPr>
          <p:cNvSpPr txBox="1"/>
          <p:nvPr/>
        </p:nvSpPr>
        <p:spPr>
          <a:xfrm>
            <a:off x="4567832" y="2392569"/>
            <a:ext cx="47236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475569"/>
                </a:solidFill>
              </a:rPr>
              <a:t>फसल काटना,</a:t>
            </a:r>
          </a:p>
          <a:p>
            <a:pPr algn="ctr"/>
            <a:r>
              <a:rPr lang="en-GB" b="1" dirty="0">
                <a:solidFill>
                  <a:srgbClr val="475569"/>
                </a:solidFill>
              </a:rPr>
              <a:t> വിളവെടുക്കുക,</a:t>
            </a:r>
            <a:br>
              <a:rPr lang="en-GB" b="1" dirty="0">
                <a:solidFill>
                  <a:srgbClr val="475569"/>
                </a:solidFill>
              </a:rPr>
            </a:br>
            <a:r>
              <a:rPr lang="en-GB" b="1" dirty="0">
                <a:solidFill>
                  <a:srgbClr val="475569"/>
                </a:solidFill>
              </a:rPr>
              <a:t>அறுவடை செய்</a:t>
            </a:r>
            <a:endParaRPr lang="en-IN" b="1" dirty="0">
              <a:solidFill>
                <a:srgbClr val="475569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546E987-1B6A-FE97-9592-C215495A06B3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64748B"/>
                </a:solidFill>
              </a:rPr>
              <a:t>2/3</a:t>
            </a:r>
            <a:endParaRPr lang="en-IN" b="1" dirty="0">
              <a:solidFill>
                <a:srgbClr val="64748B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9ED7E96-20C9-C5ED-2E4C-C2B78876EA54}"/>
              </a:ext>
            </a:extLst>
          </p:cNvPr>
          <p:cNvSpPr txBox="1"/>
          <p:nvPr/>
        </p:nvSpPr>
        <p:spPr>
          <a:xfrm>
            <a:off x="7277098" y="142551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/ˈhɑːr.vəst/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18" name="Picture 17" descr="00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2A1C92A-00A5-A774-61BC-3DADB71CCAEC}"/>
              </a:ext>
            </a:extLst>
          </p:cNvPr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5EB1EB-12A8-4C78-7555-C064C72F1E0A}"/>
              </a:ext>
            </a:extLst>
          </p:cNvPr>
          <p:cNvSpPr txBox="1"/>
          <p:nvPr/>
        </p:nvSpPr>
        <p:spPr>
          <a:xfrm>
            <a:off x="7277098" y="142551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/ˈhɑːr.vəst/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B967A89-D0B6-0911-7979-8252ABD5BB96}"/>
              </a:ext>
            </a:extLst>
          </p:cNvPr>
          <p:cNvSpPr txBox="1"/>
          <p:nvPr/>
        </p:nvSpPr>
        <p:spPr>
          <a:xfrm>
            <a:off x="5869858" y="380999"/>
            <a:ext cx="5781368" cy="1112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6600" b="0" i="0" u="none" dirty="0">
                <a:solidFill>
                  <a:srgbClr val="0F172A"/>
                </a:solidFill>
                <a:latin typeface="Poppins ExtraBold"/>
              </a:rPr>
              <a:t>harvest</a:t>
            </a:r>
            <a:endParaRPr sz="66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2C42FA-D19F-3E1A-4385-361C1AE5B3B6}"/>
              </a:ext>
            </a:extLst>
          </p:cNvPr>
          <p:cNvSpPr txBox="1"/>
          <p:nvPr/>
        </p:nvSpPr>
        <p:spPr>
          <a:xfrm>
            <a:off x="5652935" y="1760255"/>
            <a:ext cx="599829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i="0" u="none" dirty="0">
                <a:solidFill>
                  <a:srgbClr val="1E293B"/>
                </a:solidFill>
                <a:latin typeface="Poppins"/>
              </a:rPr>
              <a:t>To gather a ripe crop from the fields.</a:t>
            </a:r>
            <a:endParaRPr sz="2000" b="1" i="0" u="none" dirty="0">
              <a:solidFill>
                <a:srgbClr val="1E293B"/>
              </a:solidFill>
              <a:latin typeface="Poppins"/>
            </a:endParaRP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423991E-464C-988E-7B7C-445D9C180856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harvest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harvests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harvested</a:t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6EB2755-2C05-216C-E7F7-E2AE9F2E1A93}"/>
              </a:ext>
            </a:extLst>
          </p:cNvPr>
          <p:cNvSpPr txBox="1"/>
          <p:nvPr/>
        </p:nvSpPr>
        <p:spPr>
          <a:xfrm>
            <a:off x="2006242" y="4194646"/>
            <a:ext cx="964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The tired farmers harvested all the wheat before the heavy rain started.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A70CE9C-16FA-6AB7-2AEC-05853ABB59B8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64748B"/>
                </a:solidFill>
              </a:rPr>
              <a:t>2/3</a:t>
            </a:r>
            <a:endParaRPr lang="en-IN" b="1" dirty="0">
              <a:solidFill>
                <a:srgbClr val="64748B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6F94828-D644-2796-92D6-FAF160DB0C25}"/>
              </a:ext>
            </a:extLst>
          </p:cNvPr>
          <p:cNvSpPr txBox="1"/>
          <p:nvPr/>
        </p:nvSpPr>
        <p:spPr>
          <a:xfrm>
            <a:off x="4567832" y="2392569"/>
            <a:ext cx="47236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475569"/>
                </a:solidFill>
              </a:rPr>
              <a:t>फसल काटना,</a:t>
            </a:r>
          </a:p>
          <a:p>
            <a:pPr algn="ctr"/>
            <a:r>
              <a:rPr lang="en-GB" b="1" dirty="0">
                <a:solidFill>
                  <a:srgbClr val="475569"/>
                </a:solidFill>
              </a:rPr>
              <a:t> വിളവെടുക്കുക,</a:t>
            </a:r>
            <a:br>
              <a:rPr lang="en-GB" b="1" dirty="0">
                <a:solidFill>
                  <a:srgbClr val="475569"/>
                </a:solidFill>
              </a:rPr>
            </a:br>
            <a:r>
              <a:rPr lang="en-GB" b="1" dirty="0">
                <a:solidFill>
                  <a:srgbClr val="475569"/>
                </a:solidFill>
              </a:rPr>
              <a:t>அறுவடை செய்</a:t>
            </a:r>
            <a:endParaRPr lang="en-IN" b="1" dirty="0">
              <a:solidFill>
                <a:srgbClr val="475569"/>
              </a:solidFill>
            </a:endParaRPr>
          </a:p>
        </p:txBody>
      </p:sp>
      <p:pic>
        <p:nvPicPr>
          <p:cNvPr id="20" name="Picture 19" descr="00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1C5957D-72BF-A1C1-2CDF-3D465AEF83B5}"/>
              </a:ext>
            </a:extLst>
          </p:cNvPr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5401A7-5F33-EF8A-B948-FFD601450D38}"/>
              </a:ext>
            </a:extLst>
          </p:cNvPr>
          <p:cNvSpPr txBox="1"/>
          <p:nvPr/>
        </p:nvSpPr>
        <p:spPr>
          <a:xfrm>
            <a:off x="7277098" y="142551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/ˈhɑːr.vəst/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D94D832-421C-0BB8-B4EF-2E8C316DDE03}"/>
              </a:ext>
            </a:extLst>
          </p:cNvPr>
          <p:cNvSpPr txBox="1"/>
          <p:nvPr/>
        </p:nvSpPr>
        <p:spPr>
          <a:xfrm>
            <a:off x="5869858" y="380999"/>
            <a:ext cx="5781368" cy="1112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6600" b="0" i="0" u="none" dirty="0">
                <a:solidFill>
                  <a:srgbClr val="0F172A"/>
                </a:solidFill>
                <a:latin typeface="Poppins ExtraBold"/>
              </a:rPr>
              <a:t>harvest</a:t>
            </a:r>
            <a:endParaRPr sz="66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53BDB0-0299-1C06-2767-B086D47E946D}"/>
              </a:ext>
            </a:extLst>
          </p:cNvPr>
          <p:cNvSpPr txBox="1"/>
          <p:nvPr/>
        </p:nvSpPr>
        <p:spPr>
          <a:xfrm>
            <a:off x="5652935" y="1760255"/>
            <a:ext cx="599829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i="0" u="none" dirty="0">
                <a:solidFill>
                  <a:srgbClr val="1E293B"/>
                </a:solidFill>
                <a:latin typeface="Poppins"/>
              </a:rPr>
              <a:t>To gather a ripe crop from the fields.</a:t>
            </a:r>
            <a:endParaRPr sz="2000" b="1" i="0" u="none" dirty="0">
              <a:solidFill>
                <a:srgbClr val="1E293B"/>
              </a:solidFill>
              <a:latin typeface="Poppins"/>
            </a:endParaRP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7820A38-01D4-E7ED-BDB7-553169751532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harvest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harvests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harvested</a:t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A8D98F2-5A50-2D14-CF77-9338B044F8B0}"/>
              </a:ext>
            </a:extLst>
          </p:cNvPr>
          <p:cNvSpPr txBox="1"/>
          <p:nvPr/>
        </p:nvSpPr>
        <p:spPr>
          <a:xfrm>
            <a:off x="2006242" y="4194646"/>
            <a:ext cx="964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The tired farmers harvested all the wheat before the heavy rain started.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5D4EDAF-AC6D-61E3-3AE8-5AF4B7AA566D}"/>
              </a:ext>
            </a:extLst>
          </p:cNvPr>
          <p:cNvSpPr txBox="1"/>
          <p:nvPr/>
        </p:nvSpPr>
        <p:spPr>
          <a:xfrm>
            <a:off x="2895599" y="4948361"/>
            <a:ext cx="86671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2A3644"/>
                </a:solidFill>
                <a:latin typeface="Poppins ExtraBold" panose="00000900000000000000" pitchFamily="2" charset="0"/>
                <a:cs typeface="Poppins ExtraBold" panose="00000900000000000000" pitchFamily="2" charset="0"/>
              </a:rPr>
              <a:t>Workers harvest fresh apples from the orchard early in the morning.</a:t>
            </a:r>
            <a:endParaRPr lang="en-IN" sz="2400" b="1" dirty="0">
              <a:solidFill>
                <a:srgbClr val="2A3644"/>
              </a:solidFill>
              <a:latin typeface="Poppins ExtraBold" panose="00000900000000000000" pitchFamily="2" charset="0"/>
              <a:cs typeface="Poppins ExtraBold" panose="00000900000000000000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9958E69-D62B-402C-537C-2585F5407329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64748B"/>
                </a:solidFill>
              </a:rPr>
              <a:t>2/3</a:t>
            </a:r>
            <a:endParaRPr lang="en-IN" b="1" dirty="0">
              <a:solidFill>
                <a:srgbClr val="64748B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D98B3D8-B85C-5D71-F240-2608622284BF}"/>
              </a:ext>
            </a:extLst>
          </p:cNvPr>
          <p:cNvSpPr txBox="1"/>
          <p:nvPr/>
        </p:nvSpPr>
        <p:spPr>
          <a:xfrm>
            <a:off x="4567832" y="2392569"/>
            <a:ext cx="47236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475569"/>
                </a:solidFill>
              </a:rPr>
              <a:t>फसल काटना,</a:t>
            </a:r>
          </a:p>
          <a:p>
            <a:pPr algn="ctr"/>
            <a:r>
              <a:rPr lang="en-GB" b="1" dirty="0">
                <a:solidFill>
                  <a:srgbClr val="475569"/>
                </a:solidFill>
              </a:rPr>
              <a:t> വിളവെടുക്കുക,</a:t>
            </a:r>
            <a:br>
              <a:rPr lang="en-GB" b="1" dirty="0">
                <a:solidFill>
                  <a:srgbClr val="475569"/>
                </a:solidFill>
              </a:rPr>
            </a:br>
            <a:r>
              <a:rPr lang="en-GB" b="1" dirty="0">
                <a:solidFill>
                  <a:srgbClr val="475569"/>
                </a:solidFill>
              </a:rPr>
              <a:t>அறுவடை செய்</a:t>
            </a:r>
            <a:endParaRPr lang="en-IN" b="1" dirty="0">
              <a:solidFill>
                <a:srgbClr val="475569"/>
              </a:solidFill>
            </a:endParaRPr>
          </a:p>
        </p:txBody>
      </p:sp>
      <p:pic>
        <p:nvPicPr>
          <p:cNvPr id="23" name="Picture 22" descr="00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7D54AEB-14D2-6B3E-61DD-29C1EC335912}"/>
              </a:ext>
            </a:extLst>
          </p:cNvPr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AEFFF9-A6D7-E055-48B4-F328F40CD214}"/>
              </a:ext>
            </a:extLst>
          </p:cNvPr>
          <p:cNvSpPr txBox="1"/>
          <p:nvPr/>
        </p:nvSpPr>
        <p:spPr>
          <a:xfrm>
            <a:off x="7277098" y="1435579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/ˈhɑːr.vəst/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E19242B-B8EF-E742-6363-D66D6E904EA3}"/>
              </a:ext>
            </a:extLst>
          </p:cNvPr>
          <p:cNvSpPr txBox="1"/>
          <p:nvPr/>
        </p:nvSpPr>
        <p:spPr>
          <a:xfrm>
            <a:off x="5869858" y="380999"/>
            <a:ext cx="5781368" cy="1112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6600" b="0" i="0" u="none" dirty="0">
                <a:solidFill>
                  <a:srgbClr val="0F172A"/>
                </a:solidFill>
                <a:latin typeface="Poppins ExtraBold"/>
              </a:rPr>
              <a:t>harvest</a:t>
            </a:r>
            <a:endParaRPr sz="66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9FA01F0-8011-B7A8-5886-E85AF764AA61}"/>
              </a:ext>
            </a:extLst>
          </p:cNvPr>
          <p:cNvSpPr txBox="1"/>
          <p:nvPr/>
        </p:nvSpPr>
        <p:spPr>
          <a:xfrm>
            <a:off x="5652935" y="1760255"/>
            <a:ext cx="599829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i="0" u="none" dirty="0">
                <a:solidFill>
                  <a:srgbClr val="1E293B"/>
                </a:solidFill>
                <a:latin typeface="Poppins"/>
              </a:rPr>
              <a:t>To gather a ripe crop from the fields.</a:t>
            </a:r>
            <a:endParaRPr sz="2000" b="1" i="0" u="none" dirty="0">
              <a:solidFill>
                <a:srgbClr val="1E293B"/>
              </a:solidFill>
              <a:latin typeface="Poppins"/>
            </a:endParaRP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77578E5-5932-FA5C-39E7-2BE2D9C2CF6B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harvest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harvests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harvested</a:t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234DFEC-C01E-8667-4AB0-67B44270F3F0}"/>
              </a:ext>
            </a:extLst>
          </p:cNvPr>
          <p:cNvSpPr txBox="1"/>
          <p:nvPr/>
        </p:nvSpPr>
        <p:spPr>
          <a:xfrm>
            <a:off x="2006242" y="4194646"/>
            <a:ext cx="964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The tired farmers harvested all the wheat before the heavy rain started.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B52620E-AE51-05B1-BFE9-0843E5D61517}"/>
              </a:ext>
            </a:extLst>
          </p:cNvPr>
          <p:cNvSpPr txBox="1"/>
          <p:nvPr/>
        </p:nvSpPr>
        <p:spPr>
          <a:xfrm>
            <a:off x="2895599" y="4948361"/>
            <a:ext cx="80715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2A3644"/>
                </a:solidFill>
                <a:latin typeface="Poppins ExtraBold" panose="00000900000000000000" pitchFamily="2" charset="0"/>
                <a:cs typeface="Poppins ExtraBold" panose="00000900000000000000" pitchFamily="2" charset="0"/>
              </a:rPr>
              <a:t>Workers harvest fresh apples from the orchard early in the morning.</a:t>
            </a:r>
            <a:endParaRPr lang="en-IN" sz="2400" b="1" dirty="0">
              <a:solidFill>
                <a:srgbClr val="2A3644"/>
              </a:solidFill>
              <a:latin typeface="Poppins ExtraBold" panose="00000900000000000000" pitchFamily="2" charset="0"/>
              <a:cs typeface="Poppins ExtraBold" panose="00000900000000000000" pitchFamily="2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799948D-503D-1BC8-A206-EA54AED1F16D}"/>
              </a:ext>
            </a:extLst>
          </p:cNvPr>
          <p:cNvSpPr txBox="1"/>
          <p:nvPr/>
        </p:nvSpPr>
        <p:spPr>
          <a:xfrm>
            <a:off x="3794638" y="5554756"/>
            <a:ext cx="74682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2A3644"/>
                </a:solidFill>
                <a:latin typeface="Poppins ExtraBold" panose="00000900000000000000" pitchFamily="2" charset="0"/>
                <a:cs typeface="Poppins ExtraBold" panose="00000900000000000000" pitchFamily="2" charset="0"/>
              </a:rPr>
              <a:t>They will harvest the golden grain when it becomes completely ripe tomorrow.</a:t>
            </a:r>
            <a:endParaRPr lang="en-IN" sz="2400" b="1" dirty="0">
              <a:solidFill>
                <a:srgbClr val="2A3644"/>
              </a:solidFill>
              <a:latin typeface="Poppins ExtraBold" panose="00000900000000000000" pitchFamily="2" charset="0"/>
              <a:cs typeface="Poppins ExtraBold" panose="00000900000000000000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B5960A-98FD-C624-A616-C23C3B183BE0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64748B"/>
                </a:solidFill>
              </a:rPr>
              <a:t>2/3</a:t>
            </a:r>
            <a:endParaRPr lang="en-IN" b="1" dirty="0">
              <a:solidFill>
                <a:srgbClr val="64748B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1AE4CF2-87B2-9E90-5571-EBB293BCDA70}"/>
              </a:ext>
            </a:extLst>
          </p:cNvPr>
          <p:cNvSpPr txBox="1"/>
          <p:nvPr/>
        </p:nvSpPr>
        <p:spPr>
          <a:xfrm>
            <a:off x="4567832" y="2392569"/>
            <a:ext cx="47236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475569"/>
                </a:solidFill>
              </a:rPr>
              <a:t>फसल काटना,</a:t>
            </a:r>
          </a:p>
          <a:p>
            <a:pPr algn="ctr"/>
            <a:r>
              <a:rPr lang="en-GB" b="1" dirty="0">
                <a:solidFill>
                  <a:srgbClr val="475569"/>
                </a:solidFill>
              </a:rPr>
              <a:t> വിളവെടുക്കുക,</a:t>
            </a:r>
            <a:br>
              <a:rPr lang="en-GB" b="1" dirty="0">
                <a:solidFill>
                  <a:srgbClr val="475569"/>
                </a:solidFill>
              </a:rPr>
            </a:br>
            <a:r>
              <a:rPr lang="en-GB" b="1" dirty="0">
                <a:solidFill>
                  <a:srgbClr val="475569"/>
                </a:solidFill>
              </a:rPr>
              <a:t>அறுவடை செய்</a:t>
            </a:r>
            <a:endParaRPr lang="en-IN" b="1" dirty="0">
              <a:solidFill>
                <a:srgbClr val="475569"/>
              </a:solidFill>
            </a:endParaRPr>
          </a:p>
        </p:txBody>
      </p:sp>
      <p:pic>
        <p:nvPicPr>
          <p:cNvPr id="21" name="Picture 20" descr="00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69858" y="380999"/>
            <a:ext cx="5781368" cy="1112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6600" b="0" i="0" u="none" dirty="0">
                <a:solidFill>
                  <a:srgbClr val="0F172A"/>
                </a:solidFill>
                <a:latin typeface="Poppins ExtraBold"/>
              </a:rPr>
              <a:t>irrigation</a:t>
            </a:r>
            <a:endParaRPr sz="66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652935" y="1760255"/>
            <a:ext cx="599829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i="0" u="none" dirty="0">
                <a:solidFill>
                  <a:srgbClr val="1E293B"/>
                </a:solidFill>
                <a:latin typeface="Poppins"/>
              </a:rPr>
              <a:t>The supply of water to land or crops to help growth.</a:t>
            </a:r>
            <a:endParaRPr sz="2000" b="1" i="0" u="none" dirty="0">
              <a:solidFill>
                <a:srgbClr val="1E293B"/>
              </a:solidFill>
              <a:latin typeface="Poppins"/>
            </a:endParaRP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C637730-1B9E-59C6-288A-947E01A8B966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/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/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/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537A4F-4D0A-BFF3-9AE8-11D8B8210CD5}"/>
              </a:ext>
            </a:extLst>
          </p:cNvPr>
          <p:cNvSpPr txBox="1"/>
          <p:nvPr/>
        </p:nvSpPr>
        <p:spPr>
          <a:xfrm>
            <a:off x="4567832" y="2392569"/>
            <a:ext cx="47236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475569"/>
                </a:solidFill>
              </a:rPr>
              <a:t>सिंचाई,</a:t>
            </a:r>
          </a:p>
          <a:p>
            <a:pPr algn="ctr"/>
            <a:r>
              <a:rPr lang="en-GB" b="1" dirty="0">
                <a:solidFill>
                  <a:srgbClr val="475569"/>
                </a:solidFill>
              </a:rPr>
              <a:t> ജലസേചനം,</a:t>
            </a:r>
            <a:br>
              <a:rPr lang="en-GB" b="1" dirty="0">
                <a:solidFill>
                  <a:srgbClr val="475569"/>
                </a:solidFill>
              </a:rPr>
            </a:br>
            <a:r>
              <a:rPr lang="en-GB" b="1" dirty="0">
                <a:solidFill>
                  <a:srgbClr val="475569"/>
                </a:solidFill>
              </a:rPr>
              <a:t>பாசனம்</a:t>
            </a:r>
            <a:endParaRPr lang="en-IN" b="1" dirty="0">
              <a:solidFill>
                <a:srgbClr val="475569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546E987-1B6A-FE97-9592-C215495A06B3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64748B"/>
                </a:solidFill>
              </a:rPr>
              <a:t>3/3</a:t>
            </a:r>
            <a:endParaRPr lang="en-IN" b="1" dirty="0">
              <a:solidFill>
                <a:srgbClr val="64748B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9ED7E96-20C9-C5ED-2E4C-C2B78876EA54}"/>
              </a:ext>
            </a:extLst>
          </p:cNvPr>
          <p:cNvSpPr txBox="1"/>
          <p:nvPr/>
        </p:nvSpPr>
        <p:spPr>
          <a:xfrm>
            <a:off x="7277098" y="142551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/ˌɪr.əˈɡeɪ.ʃən/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18" name="Picture 17" descr="00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2A1C92A-00A5-A774-61BC-3DADB71CCAEC}"/>
              </a:ext>
            </a:extLst>
          </p:cNvPr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5EB1EB-12A8-4C78-7555-C064C72F1E0A}"/>
              </a:ext>
            </a:extLst>
          </p:cNvPr>
          <p:cNvSpPr txBox="1"/>
          <p:nvPr/>
        </p:nvSpPr>
        <p:spPr>
          <a:xfrm>
            <a:off x="7277098" y="142551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/ˌɪr.əˈɡeɪ.ʃən/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B967A89-D0B6-0911-7979-8252ABD5BB96}"/>
              </a:ext>
            </a:extLst>
          </p:cNvPr>
          <p:cNvSpPr txBox="1"/>
          <p:nvPr/>
        </p:nvSpPr>
        <p:spPr>
          <a:xfrm>
            <a:off x="5869858" y="380999"/>
            <a:ext cx="5781368" cy="1112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6600" b="0" i="0" u="none" dirty="0">
                <a:solidFill>
                  <a:srgbClr val="0F172A"/>
                </a:solidFill>
                <a:latin typeface="Poppins ExtraBold"/>
              </a:rPr>
              <a:t>irrigation</a:t>
            </a:r>
            <a:endParaRPr sz="66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2C42FA-D19F-3E1A-4385-361C1AE5B3B6}"/>
              </a:ext>
            </a:extLst>
          </p:cNvPr>
          <p:cNvSpPr txBox="1"/>
          <p:nvPr/>
        </p:nvSpPr>
        <p:spPr>
          <a:xfrm>
            <a:off x="5652935" y="1760255"/>
            <a:ext cx="599829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i="0" u="none" dirty="0">
                <a:solidFill>
                  <a:srgbClr val="1E293B"/>
                </a:solidFill>
                <a:latin typeface="Poppins"/>
              </a:rPr>
              <a:t>The supply of water to land or crops to help growth.</a:t>
            </a:r>
            <a:endParaRPr sz="2000" b="1" i="0" u="none" dirty="0">
              <a:solidFill>
                <a:srgbClr val="1E293B"/>
              </a:solidFill>
              <a:latin typeface="Poppins"/>
            </a:endParaRP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423991E-464C-988E-7B7C-445D9C180856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/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/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/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6EB2755-2C05-216C-E7F7-E2AE9F2E1A93}"/>
              </a:ext>
            </a:extLst>
          </p:cNvPr>
          <p:cNvSpPr txBox="1"/>
          <p:nvPr/>
        </p:nvSpPr>
        <p:spPr>
          <a:xfrm>
            <a:off x="2006242" y="4194646"/>
            <a:ext cx="964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The old irrigation system supplied water to all farms in the valley.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A70CE9C-16FA-6AB7-2AEC-05853ABB59B8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64748B"/>
                </a:solidFill>
              </a:rPr>
              <a:t>3/3</a:t>
            </a:r>
            <a:endParaRPr lang="en-IN" b="1" dirty="0">
              <a:solidFill>
                <a:srgbClr val="64748B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6F94828-D644-2796-92D6-FAF160DB0C25}"/>
              </a:ext>
            </a:extLst>
          </p:cNvPr>
          <p:cNvSpPr txBox="1"/>
          <p:nvPr/>
        </p:nvSpPr>
        <p:spPr>
          <a:xfrm>
            <a:off x="4567832" y="2392569"/>
            <a:ext cx="47236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475569"/>
                </a:solidFill>
              </a:rPr>
              <a:t>सिंचाई,</a:t>
            </a:r>
          </a:p>
          <a:p>
            <a:pPr algn="ctr"/>
            <a:r>
              <a:rPr lang="en-GB" b="1" dirty="0">
                <a:solidFill>
                  <a:srgbClr val="475569"/>
                </a:solidFill>
              </a:rPr>
              <a:t> ജലസേചനം,</a:t>
            </a:r>
            <a:br>
              <a:rPr lang="en-GB" b="1" dirty="0">
                <a:solidFill>
                  <a:srgbClr val="475569"/>
                </a:solidFill>
              </a:rPr>
            </a:br>
            <a:r>
              <a:rPr lang="en-GB" b="1" dirty="0">
                <a:solidFill>
                  <a:srgbClr val="475569"/>
                </a:solidFill>
              </a:rPr>
              <a:t>பாசனம்</a:t>
            </a:r>
            <a:endParaRPr lang="en-IN" b="1" dirty="0">
              <a:solidFill>
                <a:srgbClr val="475569"/>
              </a:solidFill>
            </a:endParaRPr>
          </a:p>
        </p:txBody>
      </p:sp>
      <p:pic>
        <p:nvPicPr>
          <p:cNvPr id="20" name="Picture 19" descr="00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1C5957D-72BF-A1C1-2CDF-3D465AEF83B5}"/>
              </a:ext>
            </a:extLst>
          </p:cNvPr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5401A7-5F33-EF8A-B948-FFD601450D38}"/>
              </a:ext>
            </a:extLst>
          </p:cNvPr>
          <p:cNvSpPr txBox="1"/>
          <p:nvPr/>
        </p:nvSpPr>
        <p:spPr>
          <a:xfrm>
            <a:off x="7277098" y="142551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/ˌɪr.əˈɡeɪ.ʃən/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D94D832-421C-0BB8-B4EF-2E8C316DDE03}"/>
              </a:ext>
            </a:extLst>
          </p:cNvPr>
          <p:cNvSpPr txBox="1"/>
          <p:nvPr/>
        </p:nvSpPr>
        <p:spPr>
          <a:xfrm>
            <a:off x="5869858" y="380999"/>
            <a:ext cx="5781368" cy="1112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6600" b="0" i="0" u="none" dirty="0">
                <a:solidFill>
                  <a:srgbClr val="0F172A"/>
                </a:solidFill>
                <a:latin typeface="Poppins ExtraBold"/>
              </a:rPr>
              <a:t>irrigation</a:t>
            </a:r>
            <a:endParaRPr sz="66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53BDB0-0299-1C06-2767-B086D47E946D}"/>
              </a:ext>
            </a:extLst>
          </p:cNvPr>
          <p:cNvSpPr txBox="1"/>
          <p:nvPr/>
        </p:nvSpPr>
        <p:spPr>
          <a:xfrm>
            <a:off x="5652935" y="1760255"/>
            <a:ext cx="599829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i="0" u="none" dirty="0">
                <a:solidFill>
                  <a:srgbClr val="1E293B"/>
                </a:solidFill>
                <a:latin typeface="Poppins"/>
              </a:rPr>
              <a:t>The supply of water to land or crops to help growth.</a:t>
            </a:r>
            <a:endParaRPr sz="2000" b="1" i="0" u="none" dirty="0">
              <a:solidFill>
                <a:srgbClr val="1E293B"/>
              </a:solidFill>
              <a:latin typeface="Poppins"/>
            </a:endParaRP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7820A38-01D4-E7ED-BDB7-553169751532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/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/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/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A8D98F2-5A50-2D14-CF77-9338B044F8B0}"/>
              </a:ext>
            </a:extLst>
          </p:cNvPr>
          <p:cNvSpPr txBox="1"/>
          <p:nvPr/>
        </p:nvSpPr>
        <p:spPr>
          <a:xfrm>
            <a:off x="2006242" y="4194646"/>
            <a:ext cx="964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The old irrigation system supplied water to all farms in the valley.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5D4EDAF-AC6D-61E3-3AE8-5AF4B7AA566D}"/>
              </a:ext>
            </a:extLst>
          </p:cNvPr>
          <p:cNvSpPr txBox="1"/>
          <p:nvPr/>
        </p:nvSpPr>
        <p:spPr>
          <a:xfrm>
            <a:off x="2895599" y="4948361"/>
            <a:ext cx="86671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2A3644"/>
                </a:solidFill>
                <a:latin typeface="Poppins ExtraBold" panose="00000900000000000000" pitchFamily="2" charset="0"/>
                <a:cs typeface="Poppins ExtraBold" panose="00000900000000000000" pitchFamily="2" charset="0"/>
              </a:rPr>
              <a:t>Modern irrigation provides enough water for crops during dry weather conditions.</a:t>
            </a:r>
            <a:endParaRPr lang="en-IN" sz="2400" b="1" dirty="0">
              <a:solidFill>
                <a:srgbClr val="2A3644"/>
              </a:solidFill>
              <a:latin typeface="Poppins ExtraBold" panose="00000900000000000000" pitchFamily="2" charset="0"/>
              <a:cs typeface="Poppins ExtraBold" panose="00000900000000000000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9958E69-D62B-402C-537C-2585F5407329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64748B"/>
                </a:solidFill>
              </a:rPr>
              <a:t>3/3</a:t>
            </a:r>
            <a:endParaRPr lang="en-IN" b="1" dirty="0">
              <a:solidFill>
                <a:srgbClr val="64748B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D98B3D8-B85C-5D71-F240-2608622284BF}"/>
              </a:ext>
            </a:extLst>
          </p:cNvPr>
          <p:cNvSpPr txBox="1"/>
          <p:nvPr/>
        </p:nvSpPr>
        <p:spPr>
          <a:xfrm>
            <a:off x="4567832" y="2392569"/>
            <a:ext cx="47236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475569"/>
                </a:solidFill>
              </a:rPr>
              <a:t>सिंचाई,</a:t>
            </a:r>
          </a:p>
          <a:p>
            <a:pPr algn="ctr"/>
            <a:r>
              <a:rPr lang="en-GB" b="1" dirty="0">
                <a:solidFill>
                  <a:srgbClr val="475569"/>
                </a:solidFill>
              </a:rPr>
              <a:t> ജലസേചനം,</a:t>
            </a:r>
            <a:br>
              <a:rPr lang="en-GB" b="1" dirty="0">
                <a:solidFill>
                  <a:srgbClr val="475569"/>
                </a:solidFill>
              </a:rPr>
            </a:br>
            <a:r>
              <a:rPr lang="en-GB" b="1" dirty="0">
                <a:solidFill>
                  <a:srgbClr val="475569"/>
                </a:solidFill>
              </a:rPr>
              <a:t>பாசனம்</a:t>
            </a:r>
            <a:endParaRPr lang="en-IN" b="1" dirty="0">
              <a:solidFill>
                <a:srgbClr val="475569"/>
              </a:solidFill>
            </a:endParaRPr>
          </a:p>
        </p:txBody>
      </p:sp>
      <p:pic>
        <p:nvPicPr>
          <p:cNvPr id="23" name="Picture 22" descr="00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7D54AEB-14D2-6B3E-61DD-29C1EC335912}"/>
              </a:ext>
            </a:extLst>
          </p:cNvPr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AEFFF9-A6D7-E055-48B4-F328F40CD214}"/>
              </a:ext>
            </a:extLst>
          </p:cNvPr>
          <p:cNvSpPr txBox="1"/>
          <p:nvPr/>
        </p:nvSpPr>
        <p:spPr>
          <a:xfrm>
            <a:off x="7277098" y="1435579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/ˌɪr.əˈɡeɪ.ʃən/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E19242B-B8EF-E742-6363-D66D6E904EA3}"/>
              </a:ext>
            </a:extLst>
          </p:cNvPr>
          <p:cNvSpPr txBox="1"/>
          <p:nvPr/>
        </p:nvSpPr>
        <p:spPr>
          <a:xfrm>
            <a:off x="5869858" y="380999"/>
            <a:ext cx="5781368" cy="1112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6600" b="0" i="0" u="none" dirty="0">
                <a:solidFill>
                  <a:srgbClr val="0F172A"/>
                </a:solidFill>
                <a:latin typeface="Poppins ExtraBold"/>
              </a:rPr>
              <a:t>irrigation</a:t>
            </a:r>
            <a:endParaRPr sz="66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9FA01F0-8011-B7A8-5886-E85AF764AA61}"/>
              </a:ext>
            </a:extLst>
          </p:cNvPr>
          <p:cNvSpPr txBox="1"/>
          <p:nvPr/>
        </p:nvSpPr>
        <p:spPr>
          <a:xfrm>
            <a:off x="5652935" y="1760255"/>
            <a:ext cx="599829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i="0" u="none" dirty="0">
                <a:solidFill>
                  <a:srgbClr val="1E293B"/>
                </a:solidFill>
                <a:latin typeface="Poppins"/>
              </a:rPr>
              <a:t>The supply of water to land or crops to help growth.</a:t>
            </a:r>
            <a:endParaRPr sz="2000" b="1" i="0" u="none" dirty="0">
              <a:solidFill>
                <a:srgbClr val="1E293B"/>
              </a:solidFill>
              <a:latin typeface="Poppins"/>
            </a:endParaRP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77578E5-5932-FA5C-39E7-2BE2D9C2CF6B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/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/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/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234DFEC-C01E-8667-4AB0-67B44270F3F0}"/>
              </a:ext>
            </a:extLst>
          </p:cNvPr>
          <p:cNvSpPr txBox="1"/>
          <p:nvPr/>
        </p:nvSpPr>
        <p:spPr>
          <a:xfrm>
            <a:off x="2006242" y="4194646"/>
            <a:ext cx="964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The old irrigation system supplied water to all farms in the valley.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B52620E-AE51-05B1-BFE9-0843E5D61517}"/>
              </a:ext>
            </a:extLst>
          </p:cNvPr>
          <p:cNvSpPr txBox="1"/>
          <p:nvPr/>
        </p:nvSpPr>
        <p:spPr>
          <a:xfrm>
            <a:off x="2895599" y="4948361"/>
            <a:ext cx="80715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2A3644"/>
                </a:solidFill>
                <a:latin typeface="Poppins ExtraBold" panose="00000900000000000000" pitchFamily="2" charset="0"/>
                <a:cs typeface="Poppins ExtraBold" panose="00000900000000000000" pitchFamily="2" charset="0"/>
              </a:rPr>
              <a:t>Modern irrigation provides enough water for crops during dry weather conditions.</a:t>
            </a:r>
            <a:endParaRPr lang="en-IN" sz="2400" b="1" dirty="0">
              <a:solidFill>
                <a:srgbClr val="2A3644"/>
              </a:solidFill>
              <a:latin typeface="Poppins ExtraBold" panose="00000900000000000000" pitchFamily="2" charset="0"/>
              <a:cs typeface="Poppins ExtraBold" panose="00000900000000000000" pitchFamily="2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799948D-503D-1BC8-A206-EA54AED1F16D}"/>
              </a:ext>
            </a:extLst>
          </p:cNvPr>
          <p:cNvSpPr txBox="1"/>
          <p:nvPr/>
        </p:nvSpPr>
        <p:spPr>
          <a:xfrm>
            <a:off x="3794638" y="5554756"/>
            <a:ext cx="74682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2A3644"/>
                </a:solidFill>
                <a:latin typeface="Poppins ExtraBold" panose="00000900000000000000" pitchFamily="2" charset="0"/>
                <a:cs typeface="Poppins ExtraBold" panose="00000900000000000000" pitchFamily="2" charset="0"/>
              </a:rPr>
              <a:t>A new irrigation project will help farmers grow crops during dry summer.</a:t>
            </a:r>
            <a:endParaRPr lang="en-IN" sz="2400" b="1" dirty="0">
              <a:solidFill>
                <a:srgbClr val="2A3644"/>
              </a:solidFill>
              <a:latin typeface="Poppins ExtraBold" panose="00000900000000000000" pitchFamily="2" charset="0"/>
              <a:cs typeface="Poppins ExtraBold" panose="00000900000000000000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B5960A-98FD-C624-A616-C23C3B183BE0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64748B"/>
                </a:solidFill>
              </a:rPr>
              <a:t>3/3</a:t>
            </a:r>
            <a:endParaRPr lang="en-IN" b="1" dirty="0">
              <a:solidFill>
                <a:srgbClr val="64748B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1AE4CF2-87B2-9E90-5571-EBB293BCDA70}"/>
              </a:ext>
            </a:extLst>
          </p:cNvPr>
          <p:cNvSpPr txBox="1"/>
          <p:nvPr/>
        </p:nvSpPr>
        <p:spPr>
          <a:xfrm>
            <a:off x="4567832" y="2392569"/>
            <a:ext cx="47236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475569"/>
                </a:solidFill>
              </a:rPr>
              <a:t>सिंचाई,</a:t>
            </a:r>
          </a:p>
          <a:p>
            <a:pPr algn="ctr"/>
            <a:r>
              <a:rPr lang="en-GB" b="1" dirty="0">
                <a:solidFill>
                  <a:srgbClr val="475569"/>
                </a:solidFill>
              </a:rPr>
              <a:t> ജലസേചനം,</a:t>
            </a:r>
            <a:br>
              <a:rPr lang="en-GB" b="1" dirty="0">
                <a:solidFill>
                  <a:srgbClr val="475569"/>
                </a:solidFill>
              </a:rPr>
            </a:br>
            <a:r>
              <a:rPr lang="en-GB" b="1" dirty="0">
                <a:solidFill>
                  <a:srgbClr val="475569"/>
                </a:solidFill>
              </a:rPr>
              <a:t>பாசனம்</a:t>
            </a:r>
            <a:endParaRPr lang="en-IN" b="1" dirty="0">
              <a:solidFill>
                <a:srgbClr val="475569"/>
              </a:solidFill>
            </a:endParaRPr>
          </a:p>
        </p:txBody>
      </p:sp>
      <p:pic>
        <p:nvPicPr>
          <p:cNvPr id="21" name="Picture 20" descr="00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93</TotalTime>
  <Words>210</Words>
  <Application>Microsoft Office PowerPoint</Application>
  <PresentationFormat>Widescreen</PresentationFormat>
  <Paragraphs>38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1" baseType="lpstr">
      <vt:lpstr>Arial</vt:lpstr>
      <vt:lpstr>Calibri</vt:lpstr>
      <vt:lpstr>Noto Sans SemiBold</vt:lpstr>
      <vt:lpstr>Poppins</vt:lpstr>
      <vt:lpstr>Poppins ExtraBold</vt:lpstr>
      <vt:lpstr>Poppins SemiBold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Dell</dc:creator>
  <cp:keywords/>
  <dc:description>generated using python-pptx</dc:description>
  <cp:lastModifiedBy>Prince N R</cp:lastModifiedBy>
  <cp:revision>11</cp:revision>
  <dcterms:created xsi:type="dcterms:W3CDTF">2013-01-27T09:14:16Z</dcterms:created>
  <dcterms:modified xsi:type="dcterms:W3CDTF">2026-08-03T11:30:32Z</dcterms:modified>
  <cp:category/>
</cp:coreProperties>
</file>