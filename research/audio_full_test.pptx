
<file path=[Content_Types].xml><?xml version="1.0" encoding="utf-8"?>
<Types xmlns="http://schemas.openxmlformats.org/package/2006/content-types">
  <Default Extension="jpeg" ContentType="image/jpeg"/>
  <Default Extension="jpg" ContentType="image/jpeg"/>
  <Default Extension="mp3" ContentType="audio/m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2" r:id="rId3"/>
    <p:sldId id="263" r:id="rId4"/>
    <p:sldId id="264" r:id="rId5"/>
    <p:sldId id="265" r:id="rId6"/>
    <p:sldId id="266" r:id="rId7"/>
    <p:sldId id="267" r:id="rId8"/>
    <p:sldId id="268" r:id="rId9"/>
    <p:sldId id="269" r:id="rId10"/>
    <p:sldId id="270" r:id="rId11"/>
    <p:sldId id="271" r:id="rId12"/>
    <p:sldId id="272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A3644"/>
    <a:srgbClr val="64748B"/>
    <a:srgbClr val="475569"/>
    <a:srgbClr val="1C1C1C"/>
    <a:srgbClr val="2F4F4F"/>
    <a:srgbClr val="1E293B"/>
    <a:srgbClr val="1F1B1D"/>
    <a:srgbClr val="616161"/>
    <a:srgbClr val="201A1E"/>
    <a:srgbClr val="472D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7" d="100"/>
          <a:sy n="97" d="100"/>
        </p:scale>
        <p:origin x="996" y="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microsoft.com/office/2007/relationships/media" Target="../media/media2.mp3"/><Relationship Id="rId7" Type="http://schemas.openxmlformats.org/officeDocument/2006/relationships/image" Target="../media/image2.png"/><Relationship Id="rId2" Type="http://schemas.openxmlformats.org/officeDocument/2006/relationships/audio" Target="../media/media1.mp3"/><Relationship Id="rId1" Type="http://schemas.microsoft.com/office/2007/relationships/media" Target="../media/media1.mp3"/><Relationship Id="rId6" Type="http://schemas.openxmlformats.org/officeDocument/2006/relationships/image" Target="../media/image1.png"/><Relationship Id="rId11" Type="http://schemas.openxmlformats.org/officeDocument/2006/relationships/image" Target="../media/image5.png"/><Relationship Id="rId5" Type="http://schemas.openxmlformats.org/officeDocument/2006/relationships/slideLayout" Target="../slideLayouts/slideLayout7.xml"/><Relationship Id="rId10" Type="http://schemas.openxmlformats.org/officeDocument/2006/relationships/image" Target="../media/image4.jpg"/><Relationship Id="rId4" Type="http://schemas.openxmlformats.org/officeDocument/2006/relationships/audio" Target="../media/media2.mp3"/><Relationship Id="rId9" Type="http://schemas.microsoft.com/office/2007/relationships/hdphoto" Target="../media/hdphoto1.wdp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jpg"/><Relationship Id="rId3" Type="http://schemas.openxmlformats.org/officeDocument/2006/relationships/slideLayout" Target="../slideLayouts/slideLayout7.xml"/><Relationship Id="rId7" Type="http://schemas.microsoft.com/office/2007/relationships/hdphoto" Target="../media/hdphoto1.wdp"/><Relationship Id="rId2" Type="http://schemas.openxmlformats.org/officeDocument/2006/relationships/audio" Target="../media/media3.mp3"/><Relationship Id="rId1" Type="http://schemas.microsoft.com/office/2007/relationships/media" Target="../media/media3.mp3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1.png"/><Relationship Id="rId9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jpg"/><Relationship Id="rId3" Type="http://schemas.openxmlformats.org/officeDocument/2006/relationships/slideLayout" Target="../slideLayouts/slideLayout7.xml"/><Relationship Id="rId7" Type="http://schemas.microsoft.com/office/2007/relationships/hdphoto" Target="../media/hdphoto1.wdp"/><Relationship Id="rId2" Type="http://schemas.openxmlformats.org/officeDocument/2006/relationships/audio" Target="../media/media4.mp3"/><Relationship Id="rId1" Type="http://schemas.microsoft.com/office/2007/relationships/media" Target="../media/media4.mp3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1.png"/><Relationship Id="rId9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jpg"/><Relationship Id="rId3" Type="http://schemas.openxmlformats.org/officeDocument/2006/relationships/slideLayout" Target="../slideLayouts/slideLayout7.xml"/><Relationship Id="rId7" Type="http://schemas.microsoft.com/office/2007/relationships/hdphoto" Target="../media/hdphoto1.wdp"/><Relationship Id="rId2" Type="http://schemas.openxmlformats.org/officeDocument/2006/relationships/audio" Target="../media/media5.mp3"/><Relationship Id="rId1" Type="http://schemas.microsoft.com/office/2007/relationships/media" Target="../media/media5.mp3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1.png"/><Relationship Id="rId9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microsoft.com/office/2007/relationships/media" Target="../media/media7.mp3"/><Relationship Id="rId7" Type="http://schemas.openxmlformats.org/officeDocument/2006/relationships/image" Target="../media/image2.png"/><Relationship Id="rId2" Type="http://schemas.openxmlformats.org/officeDocument/2006/relationships/audio" Target="../media/media6.mp3"/><Relationship Id="rId1" Type="http://schemas.microsoft.com/office/2007/relationships/media" Target="../media/media6.mp3"/><Relationship Id="rId6" Type="http://schemas.openxmlformats.org/officeDocument/2006/relationships/image" Target="../media/image1.png"/><Relationship Id="rId5" Type="http://schemas.openxmlformats.org/officeDocument/2006/relationships/slideLayout" Target="../slideLayouts/slideLayout7.xml"/><Relationship Id="rId10" Type="http://schemas.openxmlformats.org/officeDocument/2006/relationships/image" Target="../media/image5.png"/><Relationship Id="rId4" Type="http://schemas.openxmlformats.org/officeDocument/2006/relationships/audio" Target="../media/media7.mp3"/><Relationship Id="rId9" Type="http://schemas.openxmlformats.org/officeDocument/2006/relationships/image" Target="../media/image6.jp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slideLayout" Target="../slideLayouts/slideLayout7.xml"/><Relationship Id="rId7" Type="http://schemas.openxmlformats.org/officeDocument/2006/relationships/image" Target="../media/image6.jpg"/><Relationship Id="rId2" Type="http://schemas.openxmlformats.org/officeDocument/2006/relationships/audio" Target="../media/media8.mp3"/><Relationship Id="rId1" Type="http://schemas.microsoft.com/office/2007/relationships/media" Target="../media/media8.mp3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slideLayout" Target="../slideLayouts/slideLayout7.xml"/><Relationship Id="rId7" Type="http://schemas.openxmlformats.org/officeDocument/2006/relationships/image" Target="../media/image6.jpg"/><Relationship Id="rId2" Type="http://schemas.openxmlformats.org/officeDocument/2006/relationships/audio" Target="../media/media9.mp3"/><Relationship Id="rId1" Type="http://schemas.microsoft.com/office/2007/relationships/media" Target="../media/media9.mp3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slideLayout" Target="../slideLayouts/slideLayout7.xml"/><Relationship Id="rId7" Type="http://schemas.openxmlformats.org/officeDocument/2006/relationships/image" Target="../media/image6.jpg"/><Relationship Id="rId2" Type="http://schemas.openxmlformats.org/officeDocument/2006/relationships/audio" Target="../media/media10.mp3"/><Relationship Id="rId1" Type="http://schemas.microsoft.com/office/2007/relationships/media" Target="../media/media10.mp3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microsoft.com/office/2007/relationships/media" Target="../media/media12.mp3"/><Relationship Id="rId7" Type="http://schemas.openxmlformats.org/officeDocument/2006/relationships/image" Target="../media/image2.png"/><Relationship Id="rId2" Type="http://schemas.openxmlformats.org/officeDocument/2006/relationships/audio" Target="../media/media11.mp3"/><Relationship Id="rId1" Type="http://schemas.microsoft.com/office/2007/relationships/media" Target="../media/media11.mp3"/><Relationship Id="rId6" Type="http://schemas.openxmlformats.org/officeDocument/2006/relationships/image" Target="../media/image1.png"/><Relationship Id="rId5" Type="http://schemas.openxmlformats.org/officeDocument/2006/relationships/slideLayout" Target="../slideLayouts/slideLayout7.xml"/><Relationship Id="rId10" Type="http://schemas.openxmlformats.org/officeDocument/2006/relationships/image" Target="../media/image5.png"/><Relationship Id="rId4" Type="http://schemas.openxmlformats.org/officeDocument/2006/relationships/audio" Target="../media/media12.mp3"/><Relationship Id="rId9" Type="http://schemas.openxmlformats.org/officeDocument/2006/relationships/image" Target="../media/image7.jp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slideLayout" Target="../slideLayouts/slideLayout7.xml"/><Relationship Id="rId7" Type="http://schemas.openxmlformats.org/officeDocument/2006/relationships/image" Target="../media/image7.jpg"/><Relationship Id="rId2" Type="http://schemas.openxmlformats.org/officeDocument/2006/relationships/audio" Target="../media/media13.mp3"/><Relationship Id="rId1" Type="http://schemas.microsoft.com/office/2007/relationships/media" Target="../media/media13.mp3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slideLayout" Target="../slideLayouts/slideLayout7.xml"/><Relationship Id="rId7" Type="http://schemas.openxmlformats.org/officeDocument/2006/relationships/image" Target="../media/image7.jpg"/><Relationship Id="rId2" Type="http://schemas.openxmlformats.org/officeDocument/2006/relationships/audio" Target="../media/media14.mp3"/><Relationship Id="rId1" Type="http://schemas.microsoft.com/office/2007/relationships/media" Target="../media/media14.mp3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slideLayout" Target="../slideLayouts/slideLayout7.xml"/><Relationship Id="rId7" Type="http://schemas.openxmlformats.org/officeDocument/2006/relationships/image" Target="../media/image7.jpg"/><Relationship Id="rId2" Type="http://schemas.openxmlformats.org/officeDocument/2006/relationships/audio" Target="../media/media15.mp3"/><Relationship Id="rId1" Type="http://schemas.microsoft.com/office/2007/relationships/media" Target="../media/media15.mp3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47650" y="6415087"/>
            <a:ext cx="3695700" cy="2308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0" i="0" u="none" dirty="0">
                <a:solidFill>
                  <a:srgbClr val="2563EB"/>
                </a:solidFill>
                <a:latin typeface="Poppins SemiBold"/>
              </a:rPr>
              <a:t>█████░░░░░░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421858" y="5448760"/>
            <a:ext cx="611136" cy="4753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69858" y="380999"/>
            <a:ext cx="5781368" cy="11122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075"/>
              </a:lnSpc>
            </a:pPr>
            <a:r>
              <a:rPr lang="en-GB" sz="6600" b="0" i="0" u="none" dirty="0">
                <a:solidFill>
                  <a:srgbClr val="0F172A"/>
                </a:solidFill>
                <a:latin typeface="Poppins ExtraBold"/>
              </a:rPr>
              <a:t>cultivate</a:t>
            </a:r>
            <a:endParaRPr sz="6600" b="0" i="0" u="none" dirty="0">
              <a:solidFill>
                <a:srgbClr val="0F172A"/>
              </a:solidFill>
              <a:latin typeface="Poppins ExtraBold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652935" y="1760255"/>
            <a:ext cx="5998291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000" b="1" i="0" u="none" dirty="0">
                <a:solidFill>
                  <a:srgbClr val="1E293B"/>
                </a:solidFill>
                <a:latin typeface="Poppins"/>
              </a:rPr>
              <a:t>To prepare and use land for growing crops or plants.</a:t>
            </a:r>
            <a:endParaRPr sz="2000" b="1" i="0" u="none" dirty="0">
              <a:solidFill>
                <a:srgbClr val="1E293B"/>
              </a:solidFill>
              <a:latin typeface="Poppins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197AB29-D224-5631-2BF3-17C2CE43B15C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870176" y="5804621"/>
            <a:ext cx="1714500" cy="9351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8C637730-1B9E-59C6-288A-947E01A8B966}"/>
              </a:ext>
            </a:extLst>
          </p:cNvPr>
          <p:cNvSpPr txBox="1"/>
          <p:nvPr/>
        </p:nvSpPr>
        <p:spPr>
          <a:xfrm>
            <a:off x="8779074" y="2383534"/>
            <a:ext cx="3412926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cultivate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cultivates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cultivated</a:t>
            </a:r>
            <a:endParaRPr sz="2000" b="1" dirty="0">
              <a:solidFill>
                <a:srgbClr val="475569"/>
              </a:solidFill>
              <a:latin typeface="Noto Sans SemiBold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A537A4F-4D0A-BFF3-9AE8-11D8B8210CD5}"/>
              </a:ext>
            </a:extLst>
          </p:cNvPr>
          <p:cNvSpPr txBox="1"/>
          <p:nvPr/>
        </p:nvSpPr>
        <p:spPr>
          <a:xfrm>
            <a:off x="4567832" y="2392569"/>
            <a:ext cx="472365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solidFill>
                  <a:srgbClr val="475569"/>
                </a:solidFill>
              </a:rPr>
              <a:t>जोतना,</a:t>
            </a:r>
          </a:p>
          <a:p>
            <a:pPr algn="ctr"/>
            <a:r>
              <a:rPr lang="en-GB" b="1" dirty="0">
                <a:solidFill>
                  <a:srgbClr val="475569"/>
                </a:solidFill>
              </a:rPr>
              <a:t> കൃഷിചെയ്യുക,</a:t>
            </a:r>
            <a:br>
              <a:rPr lang="en-GB" b="1" dirty="0">
                <a:solidFill>
                  <a:srgbClr val="475569"/>
                </a:solidFill>
              </a:rPr>
            </a:br>
            <a:r>
              <a:rPr lang="en-GB" b="1" dirty="0">
                <a:solidFill>
                  <a:srgbClr val="475569"/>
                </a:solidFill>
              </a:rPr>
              <a:t>பயிரிடு</a:t>
            </a:r>
            <a:endParaRPr lang="en-IN" b="1" dirty="0">
              <a:solidFill>
                <a:srgbClr val="475569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546E987-1B6A-FE97-9592-C215495A06B3}"/>
              </a:ext>
            </a:extLst>
          </p:cNvPr>
          <p:cNvSpPr txBox="1"/>
          <p:nvPr/>
        </p:nvSpPr>
        <p:spPr>
          <a:xfrm>
            <a:off x="314325" y="6055475"/>
            <a:ext cx="23812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rgbClr val="64748B"/>
                </a:solidFill>
              </a:rPr>
              <a:t>1/3</a:t>
            </a:r>
            <a:endParaRPr lang="en-IN" b="1" dirty="0">
              <a:solidFill>
                <a:srgbClr val="64748B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9ED7E96-20C9-C5ED-2E4C-C2B78876EA54}"/>
              </a:ext>
            </a:extLst>
          </p:cNvPr>
          <p:cNvSpPr txBox="1"/>
          <p:nvPr/>
        </p:nvSpPr>
        <p:spPr>
          <a:xfrm>
            <a:off x="7277098" y="1425516"/>
            <a:ext cx="2838451" cy="2539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GB" sz="1650" dirty="0">
                <a:solidFill>
                  <a:srgbClr val="472D33"/>
                </a:solidFill>
                <a:latin typeface="Poppins ExtraBold"/>
              </a:rPr>
              <a:t>/ˈkʌl.tɪ.veɪt/</a:t>
            </a:r>
            <a:endParaRPr sz="1650" u="none" dirty="0">
              <a:solidFill>
                <a:srgbClr val="472D33"/>
              </a:solidFill>
              <a:latin typeface="Poppins ExtraBold"/>
            </a:endParaRPr>
          </a:p>
        </p:txBody>
      </p:sp>
      <p:pic>
        <p:nvPicPr>
          <p:cNvPr id="18" name="Picture 17" descr="001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23367" y="728662"/>
            <a:ext cx="3344465" cy="2828776"/>
          </a:xfrm>
          <a:prstGeom prst="rect">
            <a:avLst/>
          </a:prstGeom>
        </p:spPr>
      </p:pic>
      <p:pic>
        <p:nvPicPr>
          <p:cNvPr id="4" name="pronunciation">
            <a:hlinkClick r:id="" action="ppaction://media"/>
            <a:extLst>
              <a:ext uri="{FF2B5EF4-FFF2-40B4-BE49-F238E27FC236}">
                <a16:creationId xmlns:a16="http://schemas.microsoft.com/office/drawing/2014/main" id="{782CA993-305B-7853-8B55-5428E4AF54E2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11"/>
          <a:stretch>
            <a:fillRect/>
          </a:stretch>
        </p:blipFill>
        <p:spPr>
          <a:xfrm>
            <a:off x="0" y="0"/>
            <a:ext cx="0" cy="0"/>
          </a:xfrm>
          <a:prstGeom prst="rect">
            <a:avLst/>
          </a:prstGeom>
        </p:spPr>
      </p:pic>
      <p:pic>
        <p:nvPicPr>
          <p:cNvPr id="6" name="pronunciation">
            <a:hlinkClick r:id="" action="ppaction://media"/>
            <a:extLst>
              <a:ext uri="{FF2B5EF4-FFF2-40B4-BE49-F238E27FC236}">
                <a16:creationId xmlns:a16="http://schemas.microsoft.com/office/drawing/2014/main" id="{656B8D39-1408-5F35-AC3A-F0404DF16503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11"/>
          <a:stretch>
            <a:fillRect/>
          </a:stretch>
        </p:blipFill>
        <p:spPr>
          <a:xfrm>
            <a:off x="0" y="0"/>
            <a:ext cx="0" cy="0"/>
          </a:xfrm>
          <a:prstGeom prst="rect">
            <a:avLst/>
          </a:prstGeom>
        </p:spPr>
      </p:pic>
      <p:pic>
        <p:nvPicPr>
          <p:cNvPr id="9" name="meaning">
            <a:hlinkClick r:id="" action="ppaction://media"/>
            <a:extLst>
              <a:ext uri="{FF2B5EF4-FFF2-40B4-BE49-F238E27FC236}">
                <a16:creationId xmlns:a16="http://schemas.microsoft.com/office/drawing/2014/main" id="{5585BFC2-F3E8-A493-B6B2-1B21CFB17F94}"/>
              </a:ext>
            </a:extLst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11"/>
          <a:stretch>
            <a:fillRect/>
          </a:stretch>
        </p:blipFill>
        <p:spPr>
          <a:xfrm>
            <a:off x="0" y="0"/>
            <a:ext cx="0" cy="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6403"/>
    </mc:Choice>
    <mc:Fallback>
      <p:transition spd="slow" advTm="6403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914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440"/>
                            </p:stCondLst>
                            <p:childTnLst>
                              <p:par>
                                <p:cTn id="8" presetID="1" presetClass="mediacall" presetSubtype="0" fill="hold" nodeType="afterEffect">
                                  <p:stCondLst>
                                    <p:cond delay="300"/>
                                  </p:stCondLst>
                                  <p:childTnLst>
                                    <p:cmd type="call" cmd="playFrom(0.0)">
                                      <p:cBhvr>
                                        <p:cTn id="9" dur="914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680"/>
                            </p:stCondLst>
                            <p:childTnLst>
                              <p:par>
                                <p:cTn id="11" presetID="1" presetClass="mediacall" presetSubtype="0" fill="hold" nodeType="afterEffect">
                                  <p:stCondLst>
                                    <p:cond delay="300"/>
                                  </p:stCondLst>
                                  <p:childTnLst>
                                    <p:cmd type="call" cmd="playFrom(0.0)">
                                      <p:cBhvr>
                                        <p:cTn id="12" dur="3474" fill="hold"/>
                                        <p:tgtEl>
                                          <p:spTgt spid="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7" dur="940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  <p:audio>
              <p:cMediaNode vol="80000">
                <p:cTn id="18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audio>
            <p:seq concurrent="1" nextAc="seek">
              <p:cTn id="19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0" fill="hold">
                      <p:stCondLst>
                        <p:cond delay="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23" dur="940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  <p:audio>
              <p:cMediaNode vol="80000">
                <p:cTn id="2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  <p:seq concurrent="1" nextAc="seek">
              <p:cTn id="25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6" fill="hold">
                      <p:stCondLst>
                        <p:cond delay="0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29" dur="3500" fill="hold"/>
                                        <p:tgtEl>
                                          <p:spTgt spid="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9"/>
                  </p:tgtEl>
                </p:cond>
              </p:nextCondLst>
            </p:seq>
            <p:audio>
              <p:cMediaNode vol="80000">
                <p:cTn id="30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9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EA1FAF-FDF6-D262-4A6E-8F98ACE4A3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>
            <a:extLst>
              <a:ext uri="{FF2B5EF4-FFF2-40B4-BE49-F238E27FC236}">
                <a16:creationId xmlns:a16="http://schemas.microsoft.com/office/drawing/2014/main" id="{DA81A8A7-71C2-A8EE-E03C-BD486F868A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2A1C92A-00A5-A774-61BC-3DADB71CCAEC}"/>
              </a:ext>
            </a:extLst>
          </p:cNvPr>
          <p:cNvSpPr txBox="1"/>
          <p:nvPr/>
        </p:nvSpPr>
        <p:spPr>
          <a:xfrm>
            <a:off x="247650" y="6415087"/>
            <a:ext cx="3695700" cy="2308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0" i="0" u="none" dirty="0">
                <a:solidFill>
                  <a:srgbClr val="2563EB"/>
                </a:solidFill>
                <a:latin typeface="Poppins SemiBold"/>
              </a:rPr>
              <a:t>█████░░░░░░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45EB1EB-12A8-4C78-7555-C064C72F1E0A}"/>
              </a:ext>
            </a:extLst>
          </p:cNvPr>
          <p:cNvSpPr txBox="1"/>
          <p:nvPr/>
        </p:nvSpPr>
        <p:spPr>
          <a:xfrm>
            <a:off x="7277098" y="1425516"/>
            <a:ext cx="2838451" cy="2539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GB" sz="1650" dirty="0">
                <a:solidFill>
                  <a:srgbClr val="472D33"/>
                </a:solidFill>
                <a:latin typeface="Poppins ExtraBold"/>
              </a:rPr>
              <a:t>/ˈkʌl.tɪ.veɪt/</a:t>
            </a:r>
            <a:endParaRPr sz="1650" u="none" dirty="0">
              <a:solidFill>
                <a:srgbClr val="472D33"/>
              </a:solidFill>
              <a:latin typeface="Poppins ExtraBold"/>
            </a:endParaRPr>
          </a:p>
        </p:txBody>
      </p:sp>
      <p:pic>
        <p:nvPicPr>
          <p:cNvPr id="5" name="Picture 4" descr="image.png">
            <a:extLst>
              <a:ext uri="{FF2B5EF4-FFF2-40B4-BE49-F238E27FC236}">
                <a16:creationId xmlns:a16="http://schemas.microsoft.com/office/drawing/2014/main" id="{E92E79E2-5CAD-D379-5C20-8A1707B00BA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21858" y="5448760"/>
            <a:ext cx="611136" cy="47532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B967A89-D0B6-0911-7979-8252ABD5BB96}"/>
              </a:ext>
            </a:extLst>
          </p:cNvPr>
          <p:cNvSpPr txBox="1"/>
          <p:nvPr/>
        </p:nvSpPr>
        <p:spPr>
          <a:xfrm>
            <a:off x="5869858" y="380999"/>
            <a:ext cx="5781368" cy="11122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075"/>
              </a:lnSpc>
            </a:pPr>
            <a:r>
              <a:rPr lang="en-GB" sz="6600" b="0" i="0" u="none" dirty="0">
                <a:solidFill>
                  <a:srgbClr val="0F172A"/>
                </a:solidFill>
                <a:latin typeface="Poppins ExtraBold"/>
              </a:rPr>
              <a:t>cultivate</a:t>
            </a:r>
            <a:endParaRPr sz="6600" b="0" i="0" u="none" dirty="0">
              <a:solidFill>
                <a:srgbClr val="0F172A"/>
              </a:solidFill>
              <a:latin typeface="Poppins ExtraBold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02C42FA-D19F-3E1A-4385-361C1AE5B3B6}"/>
              </a:ext>
            </a:extLst>
          </p:cNvPr>
          <p:cNvSpPr txBox="1"/>
          <p:nvPr/>
        </p:nvSpPr>
        <p:spPr>
          <a:xfrm>
            <a:off x="5652935" y="1760255"/>
            <a:ext cx="5998291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000" b="1" i="0" u="none" dirty="0">
                <a:solidFill>
                  <a:srgbClr val="1E293B"/>
                </a:solidFill>
                <a:latin typeface="Poppins"/>
              </a:rPr>
              <a:t>To prepare and use land for growing crops or plants.</a:t>
            </a:r>
            <a:endParaRPr sz="2000" b="1" i="0" u="none" dirty="0">
              <a:solidFill>
                <a:srgbClr val="1E293B"/>
              </a:solidFill>
              <a:latin typeface="Poppins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BA704EA-DBA6-7A74-1E29-E0E399DC950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870176" y="5804621"/>
            <a:ext cx="1714500" cy="9351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423991E-464C-988E-7B7C-445D9C180856}"/>
              </a:ext>
            </a:extLst>
          </p:cNvPr>
          <p:cNvSpPr txBox="1"/>
          <p:nvPr/>
        </p:nvSpPr>
        <p:spPr>
          <a:xfrm>
            <a:off x="8779074" y="2383534"/>
            <a:ext cx="3412926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cultivate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cultivates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cultivated</a:t>
            </a:r>
            <a:endParaRPr sz="2000" b="1" dirty="0">
              <a:solidFill>
                <a:srgbClr val="475569"/>
              </a:solidFill>
              <a:latin typeface="Noto Sans SemiBold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6EB2755-2C05-216C-E7F7-E2AE9F2E1A93}"/>
              </a:ext>
            </a:extLst>
          </p:cNvPr>
          <p:cNvSpPr txBox="1"/>
          <p:nvPr/>
        </p:nvSpPr>
        <p:spPr>
          <a:xfrm>
            <a:off x="2006242" y="4194646"/>
            <a:ext cx="9644983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GB" sz="2400" b="0" i="0" u="none" dirty="0">
                <a:solidFill>
                  <a:srgbClr val="2A3644"/>
                </a:solidFill>
                <a:latin typeface="Poppins ExtraBold"/>
              </a:rPr>
              <a:t>The local family cultivated organic vegetables on their small farm last year.</a:t>
            </a:r>
            <a:endParaRPr sz="2400" b="0" i="0" u="none" dirty="0">
              <a:solidFill>
                <a:srgbClr val="2A3644"/>
              </a:solidFill>
              <a:latin typeface="Poppins ExtraBold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A70CE9C-16FA-6AB7-2AEC-05853ABB59B8}"/>
              </a:ext>
            </a:extLst>
          </p:cNvPr>
          <p:cNvSpPr txBox="1"/>
          <p:nvPr/>
        </p:nvSpPr>
        <p:spPr>
          <a:xfrm>
            <a:off x="314325" y="6055475"/>
            <a:ext cx="23812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rgbClr val="64748B"/>
                </a:solidFill>
              </a:rPr>
              <a:t>1/3</a:t>
            </a:r>
            <a:endParaRPr lang="en-IN" b="1" dirty="0">
              <a:solidFill>
                <a:srgbClr val="64748B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6F94828-D644-2796-92D6-FAF160DB0C25}"/>
              </a:ext>
            </a:extLst>
          </p:cNvPr>
          <p:cNvSpPr txBox="1"/>
          <p:nvPr/>
        </p:nvSpPr>
        <p:spPr>
          <a:xfrm>
            <a:off x="4567832" y="2392569"/>
            <a:ext cx="472365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solidFill>
                  <a:srgbClr val="475569"/>
                </a:solidFill>
              </a:rPr>
              <a:t>जोतना,</a:t>
            </a:r>
          </a:p>
          <a:p>
            <a:pPr algn="ctr"/>
            <a:r>
              <a:rPr lang="en-GB" b="1" dirty="0">
                <a:solidFill>
                  <a:srgbClr val="475569"/>
                </a:solidFill>
              </a:rPr>
              <a:t> കൃഷിചെയ്യുക,</a:t>
            </a:r>
            <a:br>
              <a:rPr lang="en-GB" b="1" dirty="0">
                <a:solidFill>
                  <a:srgbClr val="475569"/>
                </a:solidFill>
              </a:rPr>
            </a:br>
            <a:r>
              <a:rPr lang="en-GB" b="1" dirty="0">
                <a:solidFill>
                  <a:srgbClr val="475569"/>
                </a:solidFill>
              </a:rPr>
              <a:t>பயிரிடு</a:t>
            </a:r>
            <a:endParaRPr lang="en-IN" b="1" dirty="0">
              <a:solidFill>
                <a:srgbClr val="475569"/>
              </a:solidFill>
            </a:endParaRPr>
          </a:p>
        </p:txBody>
      </p:sp>
      <p:pic>
        <p:nvPicPr>
          <p:cNvPr id="20" name="Picture 19" descr="001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23367" y="728662"/>
            <a:ext cx="3344465" cy="2828776"/>
          </a:xfrm>
          <a:prstGeom prst="rect">
            <a:avLst/>
          </a:prstGeom>
        </p:spPr>
      </p:pic>
      <p:pic>
        <p:nvPicPr>
          <p:cNvPr id="6" name="past_sentence">
            <a:hlinkClick r:id="" action="ppaction://media"/>
            <a:extLst>
              <a:ext uri="{FF2B5EF4-FFF2-40B4-BE49-F238E27FC236}">
                <a16:creationId xmlns:a16="http://schemas.microsoft.com/office/drawing/2014/main" id="{8ED45E62-84A3-532C-7FF0-EF8CA117FDA0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9"/>
          <a:stretch>
            <a:fillRect/>
          </a:stretch>
        </p:blipFill>
        <p:spPr>
          <a:xfrm>
            <a:off x="0" y="0"/>
            <a:ext cx="0" cy="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13372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5463"/>
    </mc:Choice>
    <mc:Fallback>
      <p:transition spd="slow" advTm="5463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963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7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1" dur="4989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  <p:audio>
              <p:cMediaNode vol="80000">
                <p:cTn id="12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5A4F9D1-DD01-2A0C-BA1C-F5AE3F2DDF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>
            <a:extLst>
              <a:ext uri="{FF2B5EF4-FFF2-40B4-BE49-F238E27FC236}">
                <a16:creationId xmlns:a16="http://schemas.microsoft.com/office/drawing/2014/main" id="{1B1DB53D-A1BD-2743-4573-1146636AF1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1C5957D-72BF-A1C1-2CDF-3D465AEF83B5}"/>
              </a:ext>
            </a:extLst>
          </p:cNvPr>
          <p:cNvSpPr txBox="1"/>
          <p:nvPr/>
        </p:nvSpPr>
        <p:spPr>
          <a:xfrm>
            <a:off x="247650" y="6415087"/>
            <a:ext cx="3695700" cy="2308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0" i="0" u="none" dirty="0">
                <a:solidFill>
                  <a:srgbClr val="2563EB"/>
                </a:solidFill>
                <a:latin typeface="Poppins SemiBold"/>
              </a:rPr>
              <a:t>█████░░░░░░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05401A7-5F33-EF8A-B948-FFD601450D38}"/>
              </a:ext>
            </a:extLst>
          </p:cNvPr>
          <p:cNvSpPr txBox="1"/>
          <p:nvPr/>
        </p:nvSpPr>
        <p:spPr>
          <a:xfrm>
            <a:off x="7277098" y="1425516"/>
            <a:ext cx="2838451" cy="2539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GB" sz="1650" dirty="0">
                <a:solidFill>
                  <a:srgbClr val="472D33"/>
                </a:solidFill>
                <a:latin typeface="Poppins ExtraBold"/>
              </a:rPr>
              <a:t>/ˈkʌl.tɪ.veɪt/</a:t>
            </a:r>
            <a:endParaRPr sz="1650" u="none" dirty="0">
              <a:solidFill>
                <a:srgbClr val="472D33"/>
              </a:solidFill>
              <a:latin typeface="Poppins ExtraBold"/>
            </a:endParaRPr>
          </a:p>
        </p:txBody>
      </p:sp>
      <p:pic>
        <p:nvPicPr>
          <p:cNvPr id="5" name="Picture 4" descr="image.png">
            <a:extLst>
              <a:ext uri="{FF2B5EF4-FFF2-40B4-BE49-F238E27FC236}">
                <a16:creationId xmlns:a16="http://schemas.microsoft.com/office/drawing/2014/main" id="{F373F6F7-FF94-4E2E-08A0-C01BE84F1F2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21858" y="5448760"/>
            <a:ext cx="611136" cy="47532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D94D832-421C-0BB8-B4EF-2E8C316DDE03}"/>
              </a:ext>
            </a:extLst>
          </p:cNvPr>
          <p:cNvSpPr txBox="1"/>
          <p:nvPr/>
        </p:nvSpPr>
        <p:spPr>
          <a:xfrm>
            <a:off x="5869858" y="380999"/>
            <a:ext cx="5781368" cy="11122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075"/>
              </a:lnSpc>
            </a:pPr>
            <a:r>
              <a:rPr lang="en-GB" sz="6600" b="0" i="0" u="none" dirty="0">
                <a:solidFill>
                  <a:srgbClr val="0F172A"/>
                </a:solidFill>
                <a:latin typeface="Poppins ExtraBold"/>
              </a:rPr>
              <a:t>cultivate</a:t>
            </a:r>
            <a:endParaRPr sz="6600" b="0" i="0" u="none" dirty="0">
              <a:solidFill>
                <a:srgbClr val="0F172A"/>
              </a:solidFill>
              <a:latin typeface="Poppins ExtraBold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A53BDB0-0299-1C06-2767-B086D47E946D}"/>
              </a:ext>
            </a:extLst>
          </p:cNvPr>
          <p:cNvSpPr txBox="1"/>
          <p:nvPr/>
        </p:nvSpPr>
        <p:spPr>
          <a:xfrm>
            <a:off x="5652935" y="1760255"/>
            <a:ext cx="5998291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000" b="1" i="0" u="none" dirty="0">
                <a:solidFill>
                  <a:srgbClr val="1E293B"/>
                </a:solidFill>
                <a:latin typeface="Poppins"/>
              </a:rPr>
              <a:t>To prepare and use land for growing crops or plants.</a:t>
            </a:r>
            <a:endParaRPr sz="2000" b="1" i="0" u="none" dirty="0">
              <a:solidFill>
                <a:srgbClr val="1E293B"/>
              </a:solidFill>
              <a:latin typeface="Poppins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2892612-1B2E-1773-39E7-B2EC7757F34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870176" y="5804621"/>
            <a:ext cx="1714500" cy="9351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17820A38-01D4-E7ED-BDB7-553169751532}"/>
              </a:ext>
            </a:extLst>
          </p:cNvPr>
          <p:cNvSpPr txBox="1"/>
          <p:nvPr/>
        </p:nvSpPr>
        <p:spPr>
          <a:xfrm>
            <a:off x="8779074" y="2383534"/>
            <a:ext cx="3412926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cultivate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cultivates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cultivated</a:t>
            </a:r>
            <a:endParaRPr sz="2000" b="1" dirty="0">
              <a:solidFill>
                <a:srgbClr val="475569"/>
              </a:solidFill>
              <a:latin typeface="Noto Sans SemiBold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A8D98F2-5A50-2D14-CF77-9338B044F8B0}"/>
              </a:ext>
            </a:extLst>
          </p:cNvPr>
          <p:cNvSpPr txBox="1"/>
          <p:nvPr/>
        </p:nvSpPr>
        <p:spPr>
          <a:xfrm>
            <a:off x="2006242" y="4194646"/>
            <a:ext cx="9644983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GB" sz="2400" b="0" i="0" u="none" dirty="0">
                <a:solidFill>
                  <a:srgbClr val="2A3644"/>
                </a:solidFill>
                <a:latin typeface="Poppins ExtraBold"/>
              </a:rPr>
              <a:t>The local family cultivated organic vegetables on their small farm last year.</a:t>
            </a:r>
            <a:endParaRPr sz="2400" b="0" i="0" u="none" dirty="0">
              <a:solidFill>
                <a:srgbClr val="2A3644"/>
              </a:solidFill>
              <a:latin typeface="Poppins ExtraBold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5D4EDAF-AC6D-61E3-3AE8-5AF4B7AA566D}"/>
              </a:ext>
            </a:extLst>
          </p:cNvPr>
          <p:cNvSpPr txBox="1"/>
          <p:nvPr/>
        </p:nvSpPr>
        <p:spPr>
          <a:xfrm>
            <a:off x="2895599" y="4948361"/>
            <a:ext cx="86671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>
                <a:solidFill>
                  <a:srgbClr val="2A3644"/>
                </a:solidFill>
                <a:latin typeface="Poppins ExtraBold" panose="00000900000000000000" pitchFamily="2" charset="0"/>
                <a:cs typeface="Poppins ExtraBold" panose="00000900000000000000" pitchFamily="2" charset="0"/>
              </a:rPr>
              <a:t>Farmers cultivate the fertile soil every spring to prepare for planting crops.</a:t>
            </a:r>
            <a:endParaRPr lang="en-IN" sz="2400" b="1" dirty="0">
              <a:solidFill>
                <a:srgbClr val="2A3644"/>
              </a:solidFill>
              <a:latin typeface="Poppins ExtraBold" panose="00000900000000000000" pitchFamily="2" charset="0"/>
              <a:cs typeface="Poppins ExtraBold" panose="00000900000000000000" pitchFamily="2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9958E69-D62B-402C-537C-2585F5407329}"/>
              </a:ext>
            </a:extLst>
          </p:cNvPr>
          <p:cNvSpPr txBox="1"/>
          <p:nvPr/>
        </p:nvSpPr>
        <p:spPr>
          <a:xfrm>
            <a:off x="314325" y="6055475"/>
            <a:ext cx="23812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rgbClr val="64748B"/>
                </a:solidFill>
              </a:rPr>
              <a:t>1/3</a:t>
            </a:r>
            <a:endParaRPr lang="en-IN" b="1" dirty="0">
              <a:solidFill>
                <a:srgbClr val="64748B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D98B3D8-B85C-5D71-F240-2608622284BF}"/>
              </a:ext>
            </a:extLst>
          </p:cNvPr>
          <p:cNvSpPr txBox="1"/>
          <p:nvPr/>
        </p:nvSpPr>
        <p:spPr>
          <a:xfrm>
            <a:off x="4567832" y="2392569"/>
            <a:ext cx="472365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solidFill>
                  <a:srgbClr val="475569"/>
                </a:solidFill>
              </a:rPr>
              <a:t>जोतना,</a:t>
            </a:r>
          </a:p>
          <a:p>
            <a:pPr algn="ctr"/>
            <a:r>
              <a:rPr lang="en-GB" b="1" dirty="0">
                <a:solidFill>
                  <a:srgbClr val="475569"/>
                </a:solidFill>
              </a:rPr>
              <a:t> കൃഷിചെയ്യുക,</a:t>
            </a:r>
            <a:br>
              <a:rPr lang="en-GB" b="1" dirty="0">
                <a:solidFill>
                  <a:srgbClr val="475569"/>
                </a:solidFill>
              </a:rPr>
            </a:br>
            <a:r>
              <a:rPr lang="en-GB" b="1" dirty="0">
                <a:solidFill>
                  <a:srgbClr val="475569"/>
                </a:solidFill>
              </a:rPr>
              <a:t>பயிரிடு</a:t>
            </a:r>
            <a:endParaRPr lang="en-IN" b="1" dirty="0">
              <a:solidFill>
                <a:srgbClr val="475569"/>
              </a:solidFill>
            </a:endParaRPr>
          </a:p>
        </p:txBody>
      </p:sp>
      <p:pic>
        <p:nvPicPr>
          <p:cNvPr id="23" name="Picture 22" descr="001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23367" y="728662"/>
            <a:ext cx="3344465" cy="2828776"/>
          </a:xfrm>
          <a:prstGeom prst="rect">
            <a:avLst/>
          </a:prstGeom>
        </p:spPr>
      </p:pic>
      <p:pic>
        <p:nvPicPr>
          <p:cNvPr id="6" name="present_sentence">
            <a:hlinkClick r:id="" action="ppaction://media"/>
            <a:extLst>
              <a:ext uri="{FF2B5EF4-FFF2-40B4-BE49-F238E27FC236}">
                <a16:creationId xmlns:a16="http://schemas.microsoft.com/office/drawing/2014/main" id="{AACAA18E-AA50-56F9-1ED7-B7B6323E2445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9"/>
          <a:stretch>
            <a:fillRect/>
          </a:stretch>
        </p:blipFill>
        <p:spPr>
          <a:xfrm>
            <a:off x="0" y="0"/>
            <a:ext cx="0" cy="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602304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5359"/>
    </mc:Choice>
    <mc:Fallback>
      <p:transition spd="slow" advTm="5359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859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7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1" dur="4884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  <p:audio>
              <p:cMediaNode vol="80000">
                <p:cTn id="12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263B76A-1DDC-E908-B715-4D5AD5C463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>
            <a:extLst>
              <a:ext uri="{FF2B5EF4-FFF2-40B4-BE49-F238E27FC236}">
                <a16:creationId xmlns:a16="http://schemas.microsoft.com/office/drawing/2014/main" id="{4C255B0C-908B-760D-5C59-55332535CA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7D54AEB-14D2-6B3E-61DD-29C1EC335912}"/>
              </a:ext>
            </a:extLst>
          </p:cNvPr>
          <p:cNvSpPr txBox="1"/>
          <p:nvPr/>
        </p:nvSpPr>
        <p:spPr>
          <a:xfrm>
            <a:off x="247650" y="6415087"/>
            <a:ext cx="3695700" cy="2308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0" i="0" u="none" dirty="0">
                <a:solidFill>
                  <a:srgbClr val="2563EB"/>
                </a:solidFill>
                <a:latin typeface="Poppins SemiBold"/>
              </a:rPr>
              <a:t>█████░░░░░░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DAEFFF9-A6D7-E055-48B4-F328F40CD214}"/>
              </a:ext>
            </a:extLst>
          </p:cNvPr>
          <p:cNvSpPr txBox="1"/>
          <p:nvPr/>
        </p:nvSpPr>
        <p:spPr>
          <a:xfrm>
            <a:off x="7277098" y="1435579"/>
            <a:ext cx="2838451" cy="2539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GB" sz="1650" dirty="0">
                <a:solidFill>
                  <a:srgbClr val="472D33"/>
                </a:solidFill>
                <a:latin typeface="Poppins ExtraBold"/>
              </a:rPr>
              <a:t>/ˈkʌl.tɪ.veɪt/</a:t>
            </a:r>
            <a:endParaRPr sz="1650" u="none" dirty="0">
              <a:solidFill>
                <a:srgbClr val="472D33"/>
              </a:solidFill>
              <a:latin typeface="Poppins ExtraBold"/>
            </a:endParaRPr>
          </a:p>
        </p:txBody>
      </p:sp>
      <p:pic>
        <p:nvPicPr>
          <p:cNvPr id="5" name="Picture 4" descr="image.png">
            <a:extLst>
              <a:ext uri="{FF2B5EF4-FFF2-40B4-BE49-F238E27FC236}">
                <a16:creationId xmlns:a16="http://schemas.microsoft.com/office/drawing/2014/main" id="{5329CAB9-5A4C-4E45-9F44-064B8C9040D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21858" y="5448760"/>
            <a:ext cx="611136" cy="47532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E19242B-B8EF-E742-6363-D66D6E904EA3}"/>
              </a:ext>
            </a:extLst>
          </p:cNvPr>
          <p:cNvSpPr txBox="1"/>
          <p:nvPr/>
        </p:nvSpPr>
        <p:spPr>
          <a:xfrm>
            <a:off x="5869858" y="380999"/>
            <a:ext cx="5781368" cy="11122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075"/>
              </a:lnSpc>
            </a:pPr>
            <a:r>
              <a:rPr lang="en-GB" sz="6600" b="0" i="0" u="none" dirty="0">
                <a:solidFill>
                  <a:srgbClr val="0F172A"/>
                </a:solidFill>
                <a:latin typeface="Poppins ExtraBold"/>
              </a:rPr>
              <a:t>cultivate</a:t>
            </a:r>
            <a:endParaRPr sz="6600" b="0" i="0" u="none" dirty="0">
              <a:solidFill>
                <a:srgbClr val="0F172A"/>
              </a:solidFill>
              <a:latin typeface="Poppins ExtraBold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9FA01F0-8011-B7A8-5886-E85AF764AA61}"/>
              </a:ext>
            </a:extLst>
          </p:cNvPr>
          <p:cNvSpPr txBox="1"/>
          <p:nvPr/>
        </p:nvSpPr>
        <p:spPr>
          <a:xfrm>
            <a:off x="5652935" y="1760255"/>
            <a:ext cx="5998291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000" b="1" i="0" u="none" dirty="0">
                <a:solidFill>
                  <a:srgbClr val="1E293B"/>
                </a:solidFill>
                <a:latin typeface="Poppins"/>
              </a:rPr>
              <a:t>To prepare and use land for growing crops or plants.</a:t>
            </a:r>
            <a:endParaRPr sz="2000" b="1" i="0" u="none" dirty="0">
              <a:solidFill>
                <a:srgbClr val="1E293B"/>
              </a:solidFill>
              <a:latin typeface="Poppins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AD9AD66-C36B-CDA3-60DF-3DE8F53026D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870176" y="5804621"/>
            <a:ext cx="1714500" cy="9351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177578E5-5932-FA5C-39E7-2BE2D9C2CF6B}"/>
              </a:ext>
            </a:extLst>
          </p:cNvPr>
          <p:cNvSpPr txBox="1"/>
          <p:nvPr/>
        </p:nvSpPr>
        <p:spPr>
          <a:xfrm>
            <a:off x="8779074" y="2383534"/>
            <a:ext cx="3412926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cultivate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cultivates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cultivated</a:t>
            </a:r>
            <a:endParaRPr sz="2000" b="1" dirty="0">
              <a:solidFill>
                <a:srgbClr val="475569"/>
              </a:solidFill>
              <a:latin typeface="Noto Sans SemiBold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234DFEC-C01E-8667-4AB0-67B44270F3F0}"/>
              </a:ext>
            </a:extLst>
          </p:cNvPr>
          <p:cNvSpPr txBox="1"/>
          <p:nvPr/>
        </p:nvSpPr>
        <p:spPr>
          <a:xfrm>
            <a:off x="2006242" y="4194646"/>
            <a:ext cx="9644983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GB" sz="2400" b="0" i="0" u="none" dirty="0">
                <a:solidFill>
                  <a:srgbClr val="2A3644"/>
                </a:solidFill>
                <a:latin typeface="Poppins ExtraBold"/>
              </a:rPr>
              <a:t>The local family cultivated organic vegetables on their small farm last year.</a:t>
            </a:r>
            <a:endParaRPr sz="2400" b="0" i="0" u="none" dirty="0">
              <a:solidFill>
                <a:srgbClr val="2A3644"/>
              </a:solidFill>
              <a:latin typeface="Poppins ExtraBold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B52620E-AE51-05B1-BFE9-0843E5D61517}"/>
              </a:ext>
            </a:extLst>
          </p:cNvPr>
          <p:cNvSpPr txBox="1"/>
          <p:nvPr/>
        </p:nvSpPr>
        <p:spPr>
          <a:xfrm>
            <a:off x="2895599" y="4948361"/>
            <a:ext cx="80715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>
                <a:solidFill>
                  <a:srgbClr val="2A3644"/>
                </a:solidFill>
                <a:latin typeface="Poppins ExtraBold" panose="00000900000000000000" pitchFamily="2" charset="0"/>
                <a:cs typeface="Poppins ExtraBold" panose="00000900000000000000" pitchFamily="2" charset="0"/>
              </a:rPr>
              <a:t>Farmers cultivate the fertile soil every spring to prepare for planting crops.</a:t>
            </a:r>
            <a:endParaRPr lang="en-IN" sz="2400" b="1" dirty="0">
              <a:solidFill>
                <a:srgbClr val="2A3644"/>
              </a:solidFill>
              <a:latin typeface="Poppins ExtraBold" panose="00000900000000000000" pitchFamily="2" charset="0"/>
              <a:cs typeface="Poppins ExtraBold" panose="00000900000000000000" pitchFamily="2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799948D-503D-1BC8-A206-EA54AED1F16D}"/>
              </a:ext>
            </a:extLst>
          </p:cNvPr>
          <p:cNvSpPr txBox="1"/>
          <p:nvPr/>
        </p:nvSpPr>
        <p:spPr>
          <a:xfrm>
            <a:off x="3794638" y="5554756"/>
            <a:ext cx="746821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>
                <a:solidFill>
                  <a:srgbClr val="2A3644"/>
                </a:solidFill>
                <a:latin typeface="Poppins ExtraBold" panose="00000900000000000000" pitchFamily="2" charset="0"/>
                <a:cs typeface="Poppins ExtraBold" panose="00000900000000000000" pitchFamily="2" charset="0"/>
              </a:rPr>
              <a:t>Next season, our community will cultivate a large field of sweet corn.</a:t>
            </a:r>
            <a:endParaRPr lang="en-IN" sz="2400" b="1" dirty="0">
              <a:solidFill>
                <a:srgbClr val="2A3644"/>
              </a:solidFill>
              <a:latin typeface="Poppins ExtraBold" panose="00000900000000000000" pitchFamily="2" charset="0"/>
              <a:cs typeface="Poppins ExtraBold" panose="00000900000000000000" pitchFamily="2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EB5960A-98FD-C624-A616-C23C3B183BE0}"/>
              </a:ext>
            </a:extLst>
          </p:cNvPr>
          <p:cNvSpPr txBox="1"/>
          <p:nvPr/>
        </p:nvSpPr>
        <p:spPr>
          <a:xfrm>
            <a:off x="314325" y="6055475"/>
            <a:ext cx="23812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rgbClr val="64748B"/>
                </a:solidFill>
              </a:rPr>
              <a:t>1/3</a:t>
            </a:r>
            <a:endParaRPr lang="en-IN" b="1" dirty="0">
              <a:solidFill>
                <a:srgbClr val="64748B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1AE4CF2-87B2-9E90-5571-EBB293BCDA70}"/>
              </a:ext>
            </a:extLst>
          </p:cNvPr>
          <p:cNvSpPr txBox="1"/>
          <p:nvPr/>
        </p:nvSpPr>
        <p:spPr>
          <a:xfrm>
            <a:off x="4567832" y="2392569"/>
            <a:ext cx="472365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solidFill>
                  <a:srgbClr val="475569"/>
                </a:solidFill>
              </a:rPr>
              <a:t>जोतना,</a:t>
            </a:r>
          </a:p>
          <a:p>
            <a:pPr algn="ctr"/>
            <a:r>
              <a:rPr lang="en-GB" b="1" dirty="0">
                <a:solidFill>
                  <a:srgbClr val="475569"/>
                </a:solidFill>
              </a:rPr>
              <a:t> കൃഷിചെയ്യുക,</a:t>
            </a:r>
            <a:br>
              <a:rPr lang="en-GB" b="1" dirty="0">
                <a:solidFill>
                  <a:srgbClr val="475569"/>
                </a:solidFill>
              </a:rPr>
            </a:br>
            <a:r>
              <a:rPr lang="en-GB" b="1" dirty="0">
                <a:solidFill>
                  <a:srgbClr val="475569"/>
                </a:solidFill>
              </a:rPr>
              <a:t>பயிரிடு</a:t>
            </a:r>
            <a:endParaRPr lang="en-IN" b="1" dirty="0">
              <a:solidFill>
                <a:srgbClr val="475569"/>
              </a:solidFill>
            </a:endParaRPr>
          </a:p>
        </p:txBody>
      </p:sp>
      <p:pic>
        <p:nvPicPr>
          <p:cNvPr id="21" name="Picture 20" descr="001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23367" y="728662"/>
            <a:ext cx="3344465" cy="2828776"/>
          </a:xfrm>
          <a:prstGeom prst="rect">
            <a:avLst/>
          </a:prstGeom>
        </p:spPr>
      </p:pic>
      <p:pic>
        <p:nvPicPr>
          <p:cNvPr id="6" name="future_sentence">
            <a:hlinkClick r:id="" action="ppaction://media"/>
            <a:extLst>
              <a:ext uri="{FF2B5EF4-FFF2-40B4-BE49-F238E27FC236}">
                <a16:creationId xmlns:a16="http://schemas.microsoft.com/office/drawing/2014/main" id="{BF809B14-A25D-762D-2551-96D03076BBDB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9"/>
          <a:stretch>
            <a:fillRect/>
          </a:stretch>
        </p:blipFill>
        <p:spPr>
          <a:xfrm>
            <a:off x="0" y="0"/>
            <a:ext cx="0" cy="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331489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5333"/>
    </mc:Choice>
    <mc:Fallback>
      <p:transition spd="slow" advTm="5333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833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7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1" dur="4858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  <p:audio>
              <p:cMediaNode vol="80000">
                <p:cTn id="12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47650" y="6415087"/>
            <a:ext cx="3695700" cy="2308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0" i="0" u="none" dirty="0">
                <a:solidFill>
                  <a:srgbClr val="2563EB"/>
                </a:solidFill>
                <a:latin typeface="Poppins SemiBold"/>
              </a:rPr>
              <a:t>█████░░░░░░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421858" y="5448760"/>
            <a:ext cx="611136" cy="4753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69858" y="380999"/>
            <a:ext cx="5781368" cy="11122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075"/>
              </a:lnSpc>
            </a:pPr>
            <a:r>
              <a:rPr lang="en-GB" sz="6600" b="0" i="0" u="none" dirty="0">
                <a:solidFill>
                  <a:srgbClr val="0F172A"/>
                </a:solidFill>
                <a:latin typeface="Poppins ExtraBold"/>
              </a:rPr>
              <a:t>harvest</a:t>
            </a:r>
            <a:endParaRPr sz="6600" b="0" i="0" u="none" dirty="0">
              <a:solidFill>
                <a:srgbClr val="0F172A"/>
              </a:solidFill>
              <a:latin typeface="Poppins ExtraBold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652935" y="1760255"/>
            <a:ext cx="5998291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000" b="1" i="0" u="none" dirty="0">
                <a:solidFill>
                  <a:srgbClr val="1E293B"/>
                </a:solidFill>
                <a:latin typeface="Poppins"/>
              </a:rPr>
              <a:t>To gather a ripe crop from the fields.</a:t>
            </a:r>
            <a:endParaRPr sz="2000" b="1" i="0" u="none" dirty="0">
              <a:solidFill>
                <a:srgbClr val="1E293B"/>
              </a:solidFill>
              <a:latin typeface="Poppins"/>
            </a:endParaRP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70176" y="5804621"/>
            <a:ext cx="1714500" cy="9351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8C637730-1B9E-59C6-288A-947E01A8B966}"/>
              </a:ext>
            </a:extLst>
          </p:cNvPr>
          <p:cNvSpPr txBox="1"/>
          <p:nvPr/>
        </p:nvSpPr>
        <p:spPr>
          <a:xfrm>
            <a:off x="8779074" y="2383534"/>
            <a:ext cx="3412926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harvest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harvests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harvested</a:t>
            </a:r>
            <a:endParaRPr sz="2000" b="1" dirty="0">
              <a:solidFill>
                <a:srgbClr val="475569"/>
              </a:solidFill>
              <a:latin typeface="Noto Sans SemiBold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A537A4F-4D0A-BFF3-9AE8-11D8B8210CD5}"/>
              </a:ext>
            </a:extLst>
          </p:cNvPr>
          <p:cNvSpPr txBox="1"/>
          <p:nvPr/>
        </p:nvSpPr>
        <p:spPr>
          <a:xfrm>
            <a:off x="4567832" y="2392569"/>
            <a:ext cx="472365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solidFill>
                  <a:srgbClr val="475569"/>
                </a:solidFill>
              </a:rPr>
              <a:t>फसल काटना,</a:t>
            </a:r>
          </a:p>
          <a:p>
            <a:pPr algn="ctr"/>
            <a:r>
              <a:rPr lang="en-GB" b="1" dirty="0">
                <a:solidFill>
                  <a:srgbClr val="475569"/>
                </a:solidFill>
              </a:rPr>
              <a:t> വിളവെടുക്കുക,</a:t>
            </a:r>
            <a:br>
              <a:rPr lang="en-GB" b="1" dirty="0">
                <a:solidFill>
                  <a:srgbClr val="475569"/>
                </a:solidFill>
              </a:rPr>
            </a:br>
            <a:r>
              <a:rPr lang="en-GB" b="1" dirty="0">
                <a:solidFill>
                  <a:srgbClr val="475569"/>
                </a:solidFill>
              </a:rPr>
              <a:t>அறுவடை செய்</a:t>
            </a:r>
            <a:endParaRPr lang="en-IN" b="1" dirty="0">
              <a:solidFill>
                <a:srgbClr val="475569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546E987-1B6A-FE97-9592-C215495A06B3}"/>
              </a:ext>
            </a:extLst>
          </p:cNvPr>
          <p:cNvSpPr txBox="1"/>
          <p:nvPr/>
        </p:nvSpPr>
        <p:spPr>
          <a:xfrm>
            <a:off x="314325" y="6055475"/>
            <a:ext cx="23812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rgbClr val="64748B"/>
                </a:solidFill>
              </a:rPr>
              <a:t>2/3</a:t>
            </a:r>
            <a:endParaRPr lang="en-IN" b="1" dirty="0">
              <a:solidFill>
                <a:srgbClr val="64748B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9ED7E96-20C9-C5ED-2E4C-C2B78876EA54}"/>
              </a:ext>
            </a:extLst>
          </p:cNvPr>
          <p:cNvSpPr txBox="1"/>
          <p:nvPr/>
        </p:nvSpPr>
        <p:spPr>
          <a:xfrm>
            <a:off x="7277098" y="1425516"/>
            <a:ext cx="2838451" cy="2539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GB" sz="1650" dirty="0">
                <a:solidFill>
                  <a:srgbClr val="472D33"/>
                </a:solidFill>
                <a:latin typeface="Poppins ExtraBold"/>
              </a:rPr>
              <a:t>/ˈhɑːr.vəst/</a:t>
            </a:r>
            <a:endParaRPr sz="1650" u="none" dirty="0">
              <a:solidFill>
                <a:srgbClr val="472D33"/>
              </a:solidFill>
              <a:latin typeface="Poppins ExtraBold"/>
            </a:endParaRPr>
          </a:p>
        </p:txBody>
      </p:sp>
      <p:pic>
        <p:nvPicPr>
          <p:cNvPr id="18" name="Picture 17" descr="001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23367" y="728662"/>
            <a:ext cx="3344465" cy="2828776"/>
          </a:xfrm>
          <a:prstGeom prst="rect">
            <a:avLst/>
          </a:prstGeom>
        </p:spPr>
      </p:pic>
      <p:pic>
        <p:nvPicPr>
          <p:cNvPr id="5" name="pronunciation">
            <a:hlinkClick r:id="" action="ppaction://media"/>
            <a:extLst>
              <a:ext uri="{FF2B5EF4-FFF2-40B4-BE49-F238E27FC236}">
                <a16:creationId xmlns:a16="http://schemas.microsoft.com/office/drawing/2014/main" id="{92FA74A0-2B49-F5E2-A18A-C7C73B52ABE0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0" y="0"/>
            <a:ext cx="0" cy="0"/>
          </a:xfrm>
          <a:prstGeom prst="rect">
            <a:avLst/>
          </a:prstGeom>
        </p:spPr>
      </p:pic>
      <p:pic>
        <p:nvPicPr>
          <p:cNvPr id="6" name="pronunciation">
            <a:hlinkClick r:id="" action="ppaction://media"/>
            <a:extLst>
              <a:ext uri="{FF2B5EF4-FFF2-40B4-BE49-F238E27FC236}">
                <a16:creationId xmlns:a16="http://schemas.microsoft.com/office/drawing/2014/main" id="{EFCE0A68-8291-73E2-4351-5E9BECE03C05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0" y="0"/>
            <a:ext cx="0" cy="0"/>
          </a:xfrm>
          <a:prstGeom prst="rect">
            <a:avLst/>
          </a:prstGeom>
        </p:spPr>
      </p:pic>
      <p:pic>
        <p:nvPicPr>
          <p:cNvPr id="11" name="meaning">
            <a:hlinkClick r:id="" action="ppaction://media"/>
            <a:extLst>
              <a:ext uri="{FF2B5EF4-FFF2-40B4-BE49-F238E27FC236}">
                <a16:creationId xmlns:a16="http://schemas.microsoft.com/office/drawing/2014/main" id="{14DA74C9-3EAB-7B7A-AAEB-8EB3B97A718D}"/>
              </a:ext>
            </a:extLst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0" y="0"/>
            <a:ext cx="0" cy="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5071"/>
    </mc:Choice>
    <mc:Fallback>
      <p:transition spd="slow" advTm="5071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784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309"/>
                            </p:stCondLst>
                            <p:childTnLst>
                              <p:par>
                                <p:cTn id="8" presetID="1" presetClass="mediacall" presetSubtype="0" fill="hold" nodeType="afterEffect">
                                  <p:stCondLst>
                                    <p:cond delay="300"/>
                                  </p:stCondLst>
                                  <p:childTnLst>
                                    <p:cmd type="call" cmd="playFrom(0.0)">
                                      <p:cBhvr>
                                        <p:cTn id="9" dur="784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418"/>
                            </p:stCondLst>
                            <p:childTnLst>
                              <p:par>
                                <p:cTn id="11" presetID="1" presetClass="mediacall" presetSubtype="0" fill="hold" nodeType="afterEffect">
                                  <p:stCondLst>
                                    <p:cond delay="300"/>
                                  </p:stCondLst>
                                  <p:childTnLst>
                                    <p:cmd type="call" cmd="playFrom(0.0)">
                                      <p:cBhvr>
                                        <p:cTn id="12" dur="2403" fill="hold"/>
                                        <p:tgtEl>
                                          <p:spTgt spid="1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7" dur="809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"/>
                  </p:tgtEl>
                </p:cond>
              </p:nextCondLst>
            </p:seq>
            <p:audio>
              <p:cMediaNode vol="80000">
                <p:cTn id="18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  <p:seq concurrent="1" nextAc="seek">
              <p:cTn id="19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0" fill="hold">
                      <p:stCondLst>
                        <p:cond delay="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23" dur="809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  <p:audio>
              <p:cMediaNode vol="80000">
                <p:cTn id="2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  <p:seq concurrent="1" nextAc="seek">
              <p:cTn id="25" restart="whenNotActive" fill="hold" evtFilter="cancelBubble" nodeType="interactiveSeq">
                <p:stCondLst>
                  <p:cond evt="onClick" delay="0">
                    <p:tgtEl>
                      <p:spTgt spid="1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6" fill="hold">
                      <p:stCondLst>
                        <p:cond delay="0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29" dur="2429" fill="hold"/>
                                        <p:tgtEl>
                                          <p:spTgt spid="1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1"/>
                  </p:tgtEl>
                </p:cond>
              </p:nextCondLst>
            </p:seq>
            <p:audio>
              <p:cMediaNode vol="80000">
                <p:cTn id="30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1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2A1C92A-00A5-A774-61BC-3DADB71CCAEC}"/>
              </a:ext>
            </a:extLst>
          </p:cNvPr>
          <p:cNvSpPr txBox="1"/>
          <p:nvPr/>
        </p:nvSpPr>
        <p:spPr>
          <a:xfrm>
            <a:off x="247650" y="6415087"/>
            <a:ext cx="3695700" cy="2308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0" i="0" u="none" dirty="0">
                <a:solidFill>
                  <a:srgbClr val="2563EB"/>
                </a:solidFill>
                <a:latin typeface="Poppins SemiBold"/>
              </a:rPr>
              <a:t>█████░░░░░░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45EB1EB-12A8-4C78-7555-C064C72F1E0A}"/>
              </a:ext>
            </a:extLst>
          </p:cNvPr>
          <p:cNvSpPr txBox="1"/>
          <p:nvPr/>
        </p:nvSpPr>
        <p:spPr>
          <a:xfrm>
            <a:off x="7277098" y="1425516"/>
            <a:ext cx="2838451" cy="2539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GB" sz="1650" dirty="0">
                <a:solidFill>
                  <a:srgbClr val="472D33"/>
                </a:solidFill>
                <a:latin typeface="Poppins ExtraBold"/>
              </a:rPr>
              <a:t>/ˈhɑːr.vəst/</a:t>
            </a:r>
            <a:endParaRPr sz="1650" u="none" dirty="0">
              <a:solidFill>
                <a:srgbClr val="472D33"/>
              </a:solidFill>
              <a:latin typeface="Poppins ExtraBold"/>
            </a:endParaRP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21858" y="5448760"/>
            <a:ext cx="611136" cy="47532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B967A89-D0B6-0911-7979-8252ABD5BB96}"/>
              </a:ext>
            </a:extLst>
          </p:cNvPr>
          <p:cNvSpPr txBox="1"/>
          <p:nvPr/>
        </p:nvSpPr>
        <p:spPr>
          <a:xfrm>
            <a:off x="5869858" y="380999"/>
            <a:ext cx="5781368" cy="11122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075"/>
              </a:lnSpc>
            </a:pPr>
            <a:r>
              <a:rPr lang="en-GB" sz="6600" b="0" i="0" u="none" dirty="0">
                <a:solidFill>
                  <a:srgbClr val="0F172A"/>
                </a:solidFill>
                <a:latin typeface="Poppins ExtraBold"/>
              </a:rPr>
              <a:t>harvest</a:t>
            </a:r>
            <a:endParaRPr sz="6600" b="0" i="0" u="none" dirty="0">
              <a:solidFill>
                <a:srgbClr val="0F172A"/>
              </a:solidFill>
              <a:latin typeface="Poppins ExtraBold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02C42FA-D19F-3E1A-4385-361C1AE5B3B6}"/>
              </a:ext>
            </a:extLst>
          </p:cNvPr>
          <p:cNvSpPr txBox="1"/>
          <p:nvPr/>
        </p:nvSpPr>
        <p:spPr>
          <a:xfrm>
            <a:off x="5652935" y="1760255"/>
            <a:ext cx="5998291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000" b="1" i="0" u="none" dirty="0">
                <a:solidFill>
                  <a:srgbClr val="1E293B"/>
                </a:solidFill>
                <a:latin typeface="Poppins"/>
              </a:rPr>
              <a:t>To gather a ripe crop from the fields.</a:t>
            </a:r>
            <a:endParaRPr sz="2000" b="1" i="0" u="none" dirty="0">
              <a:solidFill>
                <a:srgbClr val="1E293B"/>
              </a:solidFill>
              <a:latin typeface="Poppins"/>
            </a:endParaRP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70176" y="5804621"/>
            <a:ext cx="1714500" cy="9351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423991E-464C-988E-7B7C-445D9C180856}"/>
              </a:ext>
            </a:extLst>
          </p:cNvPr>
          <p:cNvSpPr txBox="1"/>
          <p:nvPr/>
        </p:nvSpPr>
        <p:spPr>
          <a:xfrm>
            <a:off x="8779074" y="2383534"/>
            <a:ext cx="3412926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harvest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harvests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harvested</a:t>
            </a:r>
            <a:endParaRPr sz="2000" b="1" dirty="0">
              <a:solidFill>
                <a:srgbClr val="475569"/>
              </a:solidFill>
              <a:latin typeface="Noto Sans SemiBold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6EB2755-2C05-216C-E7F7-E2AE9F2E1A93}"/>
              </a:ext>
            </a:extLst>
          </p:cNvPr>
          <p:cNvSpPr txBox="1"/>
          <p:nvPr/>
        </p:nvSpPr>
        <p:spPr>
          <a:xfrm>
            <a:off x="2006242" y="4194646"/>
            <a:ext cx="9644983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GB" sz="2400" b="0" i="0" u="none" dirty="0">
                <a:solidFill>
                  <a:srgbClr val="2A3644"/>
                </a:solidFill>
                <a:latin typeface="Poppins ExtraBold"/>
              </a:rPr>
              <a:t>The tired farmers harvested all the wheat before the heavy rain started.</a:t>
            </a:r>
            <a:endParaRPr sz="2400" b="0" i="0" u="none" dirty="0">
              <a:solidFill>
                <a:srgbClr val="2A3644"/>
              </a:solidFill>
              <a:latin typeface="Poppins ExtraBold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A70CE9C-16FA-6AB7-2AEC-05853ABB59B8}"/>
              </a:ext>
            </a:extLst>
          </p:cNvPr>
          <p:cNvSpPr txBox="1"/>
          <p:nvPr/>
        </p:nvSpPr>
        <p:spPr>
          <a:xfrm>
            <a:off x="314325" y="6055475"/>
            <a:ext cx="23812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rgbClr val="64748B"/>
                </a:solidFill>
              </a:rPr>
              <a:t>2/3</a:t>
            </a:r>
            <a:endParaRPr lang="en-IN" b="1" dirty="0">
              <a:solidFill>
                <a:srgbClr val="64748B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6F94828-D644-2796-92D6-FAF160DB0C25}"/>
              </a:ext>
            </a:extLst>
          </p:cNvPr>
          <p:cNvSpPr txBox="1"/>
          <p:nvPr/>
        </p:nvSpPr>
        <p:spPr>
          <a:xfrm>
            <a:off x="4567832" y="2392569"/>
            <a:ext cx="472365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solidFill>
                  <a:srgbClr val="475569"/>
                </a:solidFill>
              </a:rPr>
              <a:t>फसल काटना,</a:t>
            </a:r>
          </a:p>
          <a:p>
            <a:pPr algn="ctr"/>
            <a:r>
              <a:rPr lang="en-GB" b="1" dirty="0">
                <a:solidFill>
                  <a:srgbClr val="475569"/>
                </a:solidFill>
              </a:rPr>
              <a:t> വിളവെടുക്കുക,</a:t>
            </a:r>
            <a:br>
              <a:rPr lang="en-GB" b="1" dirty="0">
                <a:solidFill>
                  <a:srgbClr val="475569"/>
                </a:solidFill>
              </a:rPr>
            </a:br>
            <a:r>
              <a:rPr lang="en-GB" b="1" dirty="0">
                <a:solidFill>
                  <a:srgbClr val="475569"/>
                </a:solidFill>
              </a:rPr>
              <a:t>அறுவடை செய்</a:t>
            </a:r>
            <a:endParaRPr lang="en-IN" b="1" dirty="0">
              <a:solidFill>
                <a:srgbClr val="475569"/>
              </a:solidFill>
            </a:endParaRPr>
          </a:p>
        </p:txBody>
      </p:sp>
      <p:pic>
        <p:nvPicPr>
          <p:cNvPr id="20" name="Picture 19" descr="001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23367" y="728662"/>
            <a:ext cx="3344465" cy="2828776"/>
          </a:xfrm>
          <a:prstGeom prst="rect">
            <a:avLst/>
          </a:prstGeom>
        </p:spPr>
      </p:pic>
      <p:pic>
        <p:nvPicPr>
          <p:cNvPr id="6" name="past_sentence">
            <a:hlinkClick r:id="" action="ppaction://media"/>
            <a:extLst>
              <a:ext uri="{FF2B5EF4-FFF2-40B4-BE49-F238E27FC236}">
                <a16:creationId xmlns:a16="http://schemas.microsoft.com/office/drawing/2014/main" id="{166FF59C-AC90-D14C-D21F-DC1AAC9937D5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0" y="0"/>
            <a:ext cx="0" cy="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4862"/>
    </mc:Choice>
    <mc:Fallback>
      <p:transition spd="slow" advTm="4862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362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7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1" dur="4388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  <p:audio>
              <p:cMediaNode vol="80000">
                <p:cTn id="12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1C5957D-72BF-A1C1-2CDF-3D465AEF83B5}"/>
              </a:ext>
            </a:extLst>
          </p:cNvPr>
          <p:cNvSpPr txBox="1"/>
          <p:nvPr/>
        </p:nvSpPr>
        <p:spPr>
          <a:xfrm>
            <a:off x="247650" y="6415087"/>
            <a:ext cx="3695700" cy="2308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0" i="0" u="none" dirty="0">
                <a:solidFill>
                  <a:srgbClr val="2563EB"/>
                </a:solidFill>
                <a:latin typeface="Poppins SemiBold"/>
              </a:rPr>
              <a:t>█████░░░░░░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05401A7-5F33-EF8A-B948-FFD601450D38}"/>
              </a:ext>
            </a:extLst>
          </p:cNvPr>
          <p:cNvSpPr txBox="1"/>
          <p:nvPr/>
        </p:nvSpPr>
        <p:spPr>
          <a:xfrm>
            <a:off x="7277098" y="1425516"/>
            <a:ext cx="2838451" cy="2539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GB" sz="1650" dirty="0">
                <a:solidFill>
                  <a:srgbClr val="472D33"/>
                </a:solidFill>
                <a:latin typeface="Poppins ExtraBold"/>
              </a:rPr>
              <a:t>/ˈhɑːr.vəst/</a:t>
            </a:r>
            <a:endParaRPr sz="1650" u="none" dirty="0">
              <a:solidFill>
                <a:srgbClr val="472D33"/>
              </a:solidFill>
              <a:latin typeface="Poppins ExtraBold"/>
            </a:endParaRP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21858" y="5448760"/>
            <a:ext cx="611136" cy="47532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D94D832-421C-0BB8-B4EF-2E8C316DDE03}"/>
              </a:ext>
            </a:extLst>
          </p:cNvPr>
          <p:cNvSpPr txBox="1"/>
          <p:nvPr/>
        </p:nvSpPr>
        <p:spPr>
          <a:xfrm>
            <a:off x="5869858" y="380999"/>
            <a:ext cx="5781368" cy="11122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075"/>
              </a:lnSpc>
            </a:pPr>
            <a:r>
              <a:rPr lang="en-GB" sz="6600" b="0" i="0" u="none" dirty="0">
                <a:solidFill>
                  <a:srgbClr val="0F172A"/>
                </a:solidFill>
                <a:latin typeface="Poppins ExtraBold"/>
              </a:rPr>
              <a:t>harvest</a:t>
            </a:r>
            <a:endParaRPr sz="6600" b="0" i="0" u="none" dirty="0">
              <a:solidFill>
                <a:srgbClr val="0F172A"/>
              </a:solidFill>
              <a:latin typeface="Poppins ExtraBold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A53BDB0-0299-1C06-2767-B086D47E946D}"/>
              </a:ext>
            </a:extLst>
          </p:cNvPr>
          <p:cNvSpPr txBox="1"/>
          <p:nvPr/>
        </p:nvSpPr>
        <p:spPr>
          <a:xfrm>
            <a:off x="5652935" y="1760255"/>
            <a:ext cx="5998291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000" b="1" i="0" u="none" dirty="0">
                <a:solidFill>
                  <a:srgbClr val="1E293B"/>
                </a:solidFill>
                <a:latin typeface="Poppins"/>
              </a:rPr>
              <a:t>To gather a ripe crop from the fields.</a:t>
            </a:r>
            <a:endParaRPr sz="2000" b="1" i="0" u="none" dirty="0">
              <a:solidFill>
                <a:srgbClr val="1E293B"/>
              </a:solidFill>
              <a:latin typeface="Poppins"/>
            </a:endParaRP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70176" y="5804621"/>
            <a:ext cx="1714500" cy="9351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17820A38-01D4-E7ED-BDB7-553169751532}"/>
              </a:ext>
            </a:extLst>
          </p:cNvPr>
          <p:cNvSpPr txBox="1"/>
          <p:nvPr/>
        </p:nvSpPr>
        <p:spPr>
          <a:xfrm>
            <a:off x="8779074" y="2383534"/>
            <a:ext cx="3412926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harvest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harvests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harvested</a:t>
            </a:r>
            <a:endParaRPr sz="2000" b="1" dirty="0">
              <a:solidFill>
                <a:srgbClr val="475569"/>
              </a:solidFill>
              <a:latin typeface="Noto Sans SemiBold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A8D98F2-5A50-2D14-CF77-9338B044F8B0}"/>
              </a:ext>
            </a:extLst>
          </p:cNvPr>
          <p:cNvSpPr txBox="1"/>
          <p:nvPr/>
        </p:nvSpPr>
        <p:spPr>
          <a:xfrm>
            <a:off x="2006242" y="4194646"/>
            <a:ext cx="9644983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GB" sz="2400" b="0" i="0" u="none" dirty="0">
                <a:solidFill>
                  <a:srgbClr val="2A3644"/>
                </a:solidFill>
                <a:latin typeface="Poppins ExtraBold"/>
              </a:rPr>
              <a:t>The tired farmers harvested all the wheat before the heavy rain started.</a:t>
            </a:r>
            <a:endParaRPr sz="2400" b="0" i="0" u="none" dirty="0">
              <a:solidFill>
                <a:srgbClr val="2A3644"/>
              </a:solidFill>
              <a:latin typeface="Poppins ExtraBold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5D4EDAF-AC6D-61E3-3AE8-5AF4B7AA566D}"/>
              </a:ext>
            </a:extLst>
          </p:cNvPr>
          <p:cNvSpPr txBox="1"/>
          <p:nvPr/>
        </p:nvSpPr>
        <p:spPr>
          <a:xfrm>
            <a:off x="2895599" y="4948361"/>
            <a:ext cx="86671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>
                <a:solidFill>
                  <a:srgbClr val="2A3644"/>
                </a:solidFill>
                <a:latin typeface="Poppins ExtraBold" panose="00000900000000000000" pitchFamily="2" charset="0"/>
                <a:cs typeface="Poppins ExtraBold" panose="00000900000000000000" pitchFamily="2" charset="0"/>
              </a:rPr>
              <a:t>Workers harvest fresh apples from the orchard early in the morning.</a:t>
            </a:r>
            <a:endParaRPr lang="en-IN" sz="2400" b="1" dirty="0">
              <a:solidFill>
                <a:srgbClr val="2A3644"/>
              </a:solidFill>
              <a:latin typeface="Poppins ExtraBold" panose="00000900000000000000" pitchFamily="2" charset="0"/>
              <a:cs typeface="Poppins ExtraBold" panose="00000900000000000000" pitchFamily="2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9958E69-D62B-402C-537C-2585F5407329}"/>
              </a:ext>
            </a:extLst>
          </p:cNvPr>
          <p:cNvSpPr txBox="1"/>
          <p:nvPr/>
        </p:nvSpPr>
        <p:spPr>
          <a:xfrm>
            <a:off x="314325" y="6055475"/>
            <a:ext cx="23812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rgbClr val="64748B"/>
                </a:solidFill>
              </a:rPr>
              <a:t>2/3</a:t>
            </a:r>
            <a:endParaRPr lang="en-IN" b="1" dirty="0">
              <a:solidFill>
                <a:srgbClr val="64748B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D98B3D8-B85C-5D71-F240-2608622284BF}"/>
              </a:ext>
            </a:extLst>
          </p:cNvPr>
          <p:cNvSpPr txBox="1"/>
          <p:nvPr/>
        </p:nvSpPr>
        <p:spPr>
          <a:xfrm>
            <a:off x="4567832" y="2392569"/>
            <a:ext cx="472365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solidFill>
                  <a:srgbClr val="475569"/>
                </a:solidFill>
              </a:rPr>
              <a:t>फसल काटना,</a:t>
            </a:r>
          </a:p>
          <a:p>
            <a:pPr algn="ctr"/>
            <a:r>
              <a:rPr lang="en-GB" b="1" dirty="0">
                <a:solidFill>
                  <a:srgbClr val="475569"/>
                </a:solidFill>
              </a:rPr>
              <a:t> വിളവെടുക്കുക,</a:t>
            </a:r>
            <a:br>
              <a:rPr lang="en-GB" b="1" dirty="0">
                <a:solidFill>
                  <a:srgbClr val="475569"/>
                </a:solidFill>
              </a:rPr>
            </a:br>
            <a:r>
              <a:rPr lang="en-GB" b="1" dirty="0">
                <a:solidFill>
                  <a:srgbClr val="475569"/>
                </a:solidFill>
              </a:rPr>
              <a:t>அறுவடை செய்</a:t>
            </a:r>
            <a:endParaRPr lang="en-IN" b="1" dirty="0">
              <a:solidFill>
                <a:srgbClr val="475569"/>
              </a:solidFill>
            </a:endParaRPr>
          </a:p>
        </p:txBody>
      </p:sp>
      <p:pic>
        <p:nvPicPr>
          <p:cNvPr id="23" name="Picture 22" descr="001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23367" y="728662"/>
            <a:ext cx="3344465" cy="2828776"/>
          </a:xfrm>
          <a:prstGeom prst="rect">
            <a:avLst/>
          </a:prstGeom>
        </p:spPr>
      </p:pic>
      <p:pic>
        <p:nvPicPr>
          <p:cNvPr id="6" name="present_sentence">
            <a:hlinkClick r:id="" action="ppaction://media"/>
            <a:extLst>
              <a:ext uri="{FF2B5EF4-FFF2-40B4-BE49-F238E27FC236}">
                <a16:creationId xmlns:a16="http://schemas.microsoft.com/office/drawing/2014/main" id="{06044AE1-BD85-B2A7-FDD5-CCF6FE0C0C76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0" y="0"/>
            <a:ext cx="0" cy="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4575"/>
    </mc:Choice>
    <mc:Fallback>
      <p:transition spd="slow" advTm="4575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075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7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1" dur="410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  <p:audio>
              <p:cMediaNode vol="80000">
                <p:cTn id="12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7D54AEB-14D2-6B3E-61DD-29C1EC335912}"/>
              </a:ext>
            </a:extLst>
          </p:cNvPr>
          <p:cNvSpPr txBox="1"/>
          <p:nvPr/>
        </p:nvSpPr>
        <p:spPr>
          <a:xfrm>
            <a:off x="247650" y="6415087"/>
            <a:ext cx="3695700" cy="2308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0" i="0" u="none" dirty="0">
                <a:solidFill>
                  <a:srgbClr val="2563EB"/>
                </a:solidFill>
                <a:latin typeface="Poppins SemiBold"/>
              </a:rPr>
              <a:t>█████░░░░░░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DAEFFF9-A6D7-E055-48B4-F328F40CD214}"/>
              </a:ext>
            </a:extLst>
          </p:cNvPr>
          <p:cNvSpPr txBox="1"/>
          <p:nvPr/>
        </p:nvSpPr>
        <p:spPr>
          <a:xfrm>
            <a:off x="7277098" y="1435579"/>
            <a:ext cx="2838451" cy="2539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GB" sz="1650" dirty="0">
                <a:solidFill>
                  <a:srgbClr val="472D33"/>
                </a:solidFill>
                <a:latin typeface="Poppins ExtraBold"/>
              </a:rPr>
              <a:t>/ˈhɑːr.vəst/</a:t>
            </a:r>
            <a:endParaRPr sz="1650" u="none" dirty="0">
              <a:solidFill>
                <a:srgbClr val="472D33"/>
              </a:solidFill>
              <a:latin typeface="Poppins ExtraBold"/>
            </a:endParaRP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21858" y="5448760"/>
            <a:ext cx="611136" cy="47532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E19242B-B8EF-E742-6363-D66D6E904EA3}"/>
              </a:ext>
            </a:extLst>
          </p:cNvPr>
          <p:cNvSpPr txBox="1"/>
          <p:nvPr/>
        </p:nvSpPr>
        <p:spPr>
          <a:xfrm>
            <a:off x="5869858" y="380999"/>
            <a:ext cx="5781368" cy="11122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075"/>
              </a:lnSpc>
            </a:pPr>
            <a:r>
              <a:rPr lang="en-GB" sz="6600" b="0" i="0" u="none" dirty="0">
                <a:solidFill>
                  <a:srgbClr val="0F172A"/>
                </a:solidFill>
                <a:latin typeface="Poppins ExtraBold"/>
              </a:rPr>
              <a:t>harvest</a:t>
            </a:r>
            <a:endParaRPr sz="6600" b="0" i="0" u="none" dirty="0">
              <a:solidFill>
                <a:srgbClr val="0F172A"/>
              </a:solidFill>
              <a:latin typeface="Poppins ExtraBold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9FA01F0-8011-B7A8-5886-E85AF764AA61}"/>
              </a:ext>
            </a:extLst>
          </p:cNvPr>
          <p:cNvSpPr txBox="1"/>
          <p:nvPr/>
        </p:nvSpPr>
        <p:spPr>
          <a:xfrm>
            <a:off x="5652935" y="1760255"/>
            <a:ext cx="5998291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000" b="1" i="0" u="none" dirty="0">
                <a:solidFill>
                  <a:srgbClr val="1E293B"/>
                </a:solidFill>
                <a:latin typeface="Poppins"/>
              </a:rPr>
              <a:t>To gather a ripe crop from the fields.</a:t>
            </a:r>
            <a:endParaRPr sz="2000" b="1" i="0" u="none" dirty="0">
              <a:solidFill>
                <a:srgbClr val="1E293B"/>
              </a:solidFill>
              <a:latin typeface="Poppins"/>
            </a:endParaRP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70176" y="5804621"/>
            <a:ext cx="1714500" cy="9351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177578E5-5932-FA5C-39E7-2BE2D9C2CF6B}"/>
              </a:ext>
            </a:extLst>
          </p:cNvPr>
          <p:cNvSpPr txBox="1"/>
          <p:nvPr/>
        </p:nvSpPr>
        <p:spPr>
          <a:xfrm>
            <a:off x="8779074" y="2383534"/>
            <a:ext cx="3412926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harvest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harvests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harvested</a:t>
            </a:r>
            <a:endParaRPr sz="2000" b="1" dirty="0">
              <a:solidFill>
                <a:srgbClr val="475569"/>
              </a:solidFill>
              <a:latin typeface="Noto Sans SemiBold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234DFEC-C01E-8667-4AB0-67B44270F3F0}"/>
              </a:ext>
            </a:extLst>
          </p:cNvPr>
          <p:cNvSpPr txBox="1"/>
          <p:nvPr/>
        </p:nvSpPr>
        <p:spPr>
          <a:xfrm>
            <a:off x="2006242" y="4194646"/>
            <a:ext cx="9644983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GB" sz="2400" b="0" i="0" u="none" dirty="0">
                <a:solidFill>
                  <a:srgbClr val="2A3644"/>
                </a:solidFill>
                <a:latin typeface="Poppins ExtraBold"/>
              </a:rPr>
              <a:t>The tired farmers harvested all the wheat before the heavy rain started.</a:t>
            </a:r>
            <a:endParaRPr sz="2400" b="0" i="0" u="none" dirty="0">
              <a:solidFill>
                <a:srgbClr val="2A3644"/>
              </a:solidFill>
              <a:latin typeface="Poppins ExtraBold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B52620E-AE51-05B1-BFE9-0843E5D61517}"/>
              </a:ext>
            </a:extLst>
          </p:cNvPr>
          <p:cNvSpPr txBox="1"/>
          <p:nvPr/>
        </p:nvSpPr>
        <p:spPr>
          <a:xfrm>
            <a:off x="2895599" y="4948361"/>
            <a:ext cx="80715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>
                <a:solidFill>
                  <a:srgbClr val="2A3644"/>
                </a:solidFill>
                <a:latin typeface="Poppins ExtraBold" panose="00000900000000000000" pitchFamily="2" charset="0"/>
                <a:cs typeface="Poppins ExtraBold" panose="00000900000000000000" pitchFamily="2" charset="0"/>
              </a:rPr>
              <a:t>Workers harvest fresh apples from the orchard early in the morning.</a:t>
            </a:r>
            <a:endParaRPr lang="en-IN" sz="2400" b="1" dirty="0">
              <a:solidFill>
                <a:srgbClr val="2A3644"/>
              </a:solidFill>
              <a:latin typeface="Poppins ExtraBold" panose="00000900000000000000" pitchFamily="2" charset="0"/>
              <a:cs typeface="Poppins ExtraBold" panose="00000900000000000000" pitchFamily="2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799948D-503D-1BC8-A206-EA54AED1F16D}"/>
              </a:ext>
            </a:extLst>
          </p:cNvPr>
          <p:cNvSpPr txBox="1"/>
          <p:nvPr/>
        </p:nvSpPr>
        <p:spPr>
          <a:xfrm>
            <a:off x="3794638" y="5554756"/>
            <a:ext cx="746821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>
                <a:solidFill>
                  <a:srgbClr val="2A3644"/>
                </a:solidFill>
                <a:latin typeface="Poppins ExtraBold" panose="00000900000000000000" pitchFamily="2" charset="0"/>
                <a:cs typeface="Poppins ExtraBold" panose="00000900000000000000" pitchFamily="2" charset="0"/>
              </a:rPr>
              <a:t>They will harvest the golden grain when it becomes completely ripe tomorrow.</a:t>
            </a:r>
            <a:endParaRPr lang="en-IN" sz="2400" b="1" dirty="0">
              <a:solidFill>
                <a:srgbClr val="2A3644"/>
              </a:solidFill>
              <a:latin typeface="Poppins ExtraBold" panose="00000900000000000000" pitchFamily="2" charset="0"/>
              <a:cs typeface="Poppins ExtraBold" panose="00000900000000000000" pitchFamily="2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EB5960A-98FD-C624-A616-C23C3B183BE0}"/>
              </a:ext>
            </a:extLst>
          </p:cNvPr>
          <p:cNvSpPr txBox="1"/>
          <p:nvPr/>
        </p:nvSpPr>
        <p:spPr>
          <a:xfrm>
            <a:off x="314325" y="6055475"/>
            <a:ext cx="23812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rgbClr val="64748B"/>
                </a:solidFill>
              </a:rPr>
              <a:t>2/3</a:t>
            </a:r>
            <a:endParaRPr lang="en-IN" b="1" dirty="0">
              <a:solidFill>
                <a:srgbClr val="64748B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1AE4CF2-87B2-9E90-5571-EBB293BCDA70}"/>
              </a:ext>
            </a:extLst>
          </p:cNvPr>
          <p:cNvSpPr txBox="1"/>
          <p:nvPr/>
        </p:nvSpPr>
        <p:spPr>
          <a:xfrm>
            <a:off x="4567832" y="2392569"/>
            <a:ext cx="472365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solidFill>
                  <a:srgbClr val="475569"/>
                </a:solidFill>
              </a:rPr>
              <a:t>फसल काटना,</a:t>
            </a:r>
          </a:p>
          <a:p>
            <a:pPr algn="ctr"/>
            <a:r>
              <a:rPr lang="en-GB" b="1" dirty="0">
                <a:solidFill>
                  <a:srgbClr val="475569"/>
                </a:solidFill>
              </a:rPr>
              <a:t> വിളവെടുക്കുക,</a:t>
            </a:r>
            <a:br>
              <a:rPr lang="en-GB" b="1" dirty="0">
                <a:solidFill>
                  <a:srgbClr val="475569"/>
                </a:solidFill>
              </a:rPr>
            </a:br>
            <a:r>
              <a:rPr lang="en-GB" b="1" dirty="0">
                <a:solidFill>
                  <a:srgbClr val="475569"/>
                </a:solidFill>
              </a:rPr>
              <a:t>அறுவடை செய்</a:t>
            </a:r>
            <a:endParaRPr lang="en-IN" b="1" dirty="0">
              <a:solidFill>
                <a:srgbClr val="475569"/>
              </a:solidFill>
            </a:endParaRPr>
          </a:p>
        </p:txBody>
      </p:sp>
      <p:pic>
        <p:nvPicPr>
          <p:cNvPr id="21" name="Picture 20" descr="001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23367" y="728662"/>
            <a:ext cx="3344465" cy="2828776"/>
          </a:xfrm>
          <a:prstGeom prst="rect">
            <a:avLst/>
          </a:prstGeom>
        </p:spPr>
      </p:pic>
      <p:pic>
        <p:nvPicPr>
          <p:cNvPr id="6" name="future_sentence">
            <a:hlinkClick r:id="" action="ppaction://media"/>
            <a:extLst>
              <a:ext uri="{FF2B5EF4-FFF2-40B4-BE49-F238E27FC236}">
                <a16:creationId xmlns:a16="http://schemas.microsoft.com/office/drawing/2014/main" id="{FD5758D0-AA5C-5432-2AA5-26DDEF717BF5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0" y="0"/>
            <a:ext cx="0" cy="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5228"/>
    </mc:Choice>
    <mc:Fallback>
      <p:transition spd="slow" advTm="5228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728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7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1" dur="4754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  <p:audio>
              <p:cMediaNode vol="80000">
                <p:cTn id="12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47650" y="6415087"/>
            <a:ext cx="3695700" cy="2308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0" i="0" u="none" dirty="0">
                <a:solidFill>
                  <a:srgbClr val="2563EB"/>
                </a:solidFill>
                <a:latin typeface="Poppins SemiBold"/>
              </a:rPr>
              <a:t>█████░░░░░░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421858" y="5448760"/>
            <a:ext cx="611136" cy="4753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69858" y="380999"/>
            <a:ext cx="5781368" cy="11122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075"/>
              </a:lnSpc>
            </a:pPr>
            <a:r>
              <a:rPr lang="en-GB" sz="6600" b="0" i="0" u="none" dirty="0">
                <a:solidFill>
                  <a:srgbClr val="0F172A"/>
                </a:solidFill>
                <a:latin typeface="Poppins ExtraBold"/>
              </a:rPr>
              <a:t>irrigation</a:t>
            </a:r>
            <a:endParaRPr sz="6600" b="0" i="0" u="none" dirty="0">
              <a:solidFill>
                <a:srgbClr val="0F172A"/>
              </a:solidFill>
              <a:latin typeface="Poppins ExtraBold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652935" y="1760255"/>
            <a:ext cx="5998291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000" b="1" i="0" u="none" dirty="0">
                <a:solidFill>
                  <a:srgbClr val="1E293B"/>
                </a:solidFill>
                <a:latin typeface="Poppins"/>
              </a:rPr>
              <a:t>The supply of water to land or crops to help growth.</a:t>
            </a:r>
            <a:endParaRPr sz="2000" b="1" i="0" u="none" dirty="0">
              <a:solidFill>
                <a:srgbClr val="1E293B"/>
              </a:solidFill>
              <a:latin typeface="Poppins"/>
            </a:endParaRP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70176" y="5804621"/>
            <a:ext cx="1714500" cy="9351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8C637730-1B9E-59C6-288A-947E01A8B966}"/>
              </a:ext>
            </a:extLst>
          </p:cNvPr>
          <p:cNvSpPr txBox="1"/>
          <p:nvPr/>
        </p:nvSpPr>
        <p:spPr>
          <a:xfrm>
            <a:off x="8779074" y="2383534"/>
            <a:ext cx="3412926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A537A4F-4D0A-BFF3-9AE8-11D8B8210CD5}"/>
              </a:ext>
            </a:extLst>
          </p:cNvPr>
          <p:cNvSpPr txBox="1"/>
          <p:nvPr/>
        </p:nvSpPr>
        <p:spPr>
          <a:xfrm>
            <a:off x="4567832" y="2392569"/>
            <a:ext cx="472365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solidFill>
                  <a:srgbClr val="475569"/>
                </a:solidFill>
              </a:rPr>
              <a:t>सिंचाई,</a:t>
            </a:r>
          </a:p>
          <a:p>
            <a:pPr algn="ctr"/>
            <a:r>
              <a:rPr lang="en-GB" b="1" dirty="0">
                <a:solidFill>
                  <a:srgbClr val="475569"/>
                </a:solidFill>
              </a:rPr>
              <a:t> ജലസേചനം,</a:t>
            </a:r>
            <a:br>
              <a:rPr lang="en-GB" b="1" dirty="0">
                <a:solidFill>
                  <a:srgbClr val="475569"/>
                </a:solidFill>
              </a:rPr>
            </a:br>
            <a:r>
              <a:rPr lang="en-GB" b="1" dirty="0">
                <a:solidFill>
                  <a:srgbClr val="475569"/>
                </a:solidFill>
              </a:rPr>
              <a:t>பாசனம்</a:t>
            </a:r>
            <a:endParaRPr lang="en-IN" b="1" dirty="0">
              <a:solidFill>
                <a:srgbClr val="475569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546E987-1B6A-FE97-9592-C215495A06B3}"/>
              </a:ext>
            </a:extLst>
          </p:cNvPr>
          <p:cNvSpPr txBox="1"/>
          <p:nvPr/>
        </p:nvSpPr>
        <p:spPr>
          <a:xfrm>
            <a:off x="314325" y="6055475"/>
            <a:ext cx="23812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rgbClr val="64748B"/>
                </a:solidFill>
              </a:rPr>
              <a:t>3/3</a:t>
            </a:r>
            <a:endParaRPr lang="en-IN" b="1" dirty="0">
              <a:solidFill>
                <a:srgbClr val="64748B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9ED7E96-20C9-C5ED-2E4C-C2B78876EA54}"/>
              </a:ext>
            </a:extLst>
          </p:cNvPr>
          <p:cNvSpPr txBox="1"/>
          <p:nvPr/>
        </p:nvSpPr>
        <p:spPr>
          <a:xfrm>
            <a:off x="7277098" y="1425516"/>
            <a:ext cx="2838451" cy="2539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GB" sz="1650" dirty="0">
                <a:solidFill>
                  <a:srgbClr val="472D33"/>
                </a:solidFill>
                <a:latin typeface="Poppins ExtraBold"/>
              </a:rPr>
              <a:t>/ˌɪr.əˈɡeɪ.ʃən/</a:t>
            </a:r>
            <a:endParaRPr sz="1650" u="none" dirty="0">
              <a:solidFill>
                <a:srgbClr val="472D33"/>
              </a:solidFill>
              <a:latin typeface="Poppins ExtraBold"/>
            </a:endParaRPr>
          </a:p>
        </p:txBody>
      </p:sp>
      <p:pic>
        <p:nvPicPr>
          <p:cNvPr id="18" name="Picture 17" descr="001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23367" y="728662"/>
            <a:ext cx="3344465" cy="2828776"/>
          </a:xfrm>
          <a:prstGeom prst="rect">
            <a:avLst/>
          </a:prstGeom>
        </p:spPr>
      </p:pic>
      <p:pic>
        <p:nvPicPr>
          <p:cNvPr id="5" name="pronunciation">
            <a:hlinkClick r:id="" action="ppaction://media"/>
            <a:extLst>
              <a:ext uri="{FF2B5EF4-FFF2-40B4-BE49-F238E27FC236}">
                <a16:creationId xmlns:a16="http://schemas.microsoft.com/office/drawing/2014/main" id="{33F1651B-DF08-7FDF-C722-AC575F504740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0" y="0"/>
            <a:ext cx="0" cy="0"/>
          </a:xfrm>
          <a:prstGeom prst="rect">
            <a:avLst/>
          </a:prstGeom>
        </p:spPr>
      </p:pic>
      <p:pic>
        <p:nvPicPr>
          <p:cNvPr id="6" name="pronunciation">
            <a:hlinkClick r:id="" action="ppaction://media"/>
            <a:extLst>
              <a:ext uri="{FF2B5EF4-FFF2-40B4-BE49-F238E27FC236}">
                <a16:creationId xmlns:a16="http://schemas.microsoft.com/office/drawing/2014/main" id="{C56F45ED-2917-8018-CA5F-BBC4A76D7DF9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0" y="0"/>
            <a:ext cx="0" cy="0"/>
          </a:xfrm>
          <a:prstGeom prst="rect">
            <a:avLst/>
          </a:prstGeom>
        </p:spPr>
      </p:pic>
      <p:pic>
        <p:nvPicPr>
          <p:cNvPr id="11" name="meaning">
            <a:hlinkClick r:id="" action="ppaction://media"/>
            <a:extLst>
              <a:ext uri="{FF2B5EF4-FFF2-40B4-BE49-F238E27FC236}">
                <a16:creationId xmlns:a16="http://schemas.microsoft.com/office/drawing/2014/main" id="{2F99EA45-1BA4-7683-7AAE-C6931E2BAA61}"/>
              </a:ext>
            </a:extLst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0" y="0"/>
            <a:ext cx="0" cy="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6612"/>
    </mc:Choice>
    <mc:Fallback>
      <p:transition spd="slow" advTm="6612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967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492"/>
                            </p:stCondLst>
                            <p:childTnLst>
                              <p:par>
                                <p:cTn id="8" presetID="1" presetClass="mediacall" presetSubtype="0" fill="hold" nodeType="afterEffect">
                                  <p:stCondLst>
                                    <p:cond delay="300"/>
                                  </p:stCondLst>
                                  <p:childTnLst>
                                    <p:cmd type="call" cmd="playFrom(0.0)">
                                      <p:cBhvr>
                                        <p:cTn id="9" dur="967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784"/>
                            </p:stCondLst>
                            <p:childTnLst>
                              <p:par>
                                <p:cTn id="11" presetID="1" presetClass="mediacall" presetSubtype="0" fill="hold" nodeType="afterEffect">
                                  <p:stCondLst>
                                    <p:cond delay="300"/>
                                  </p:stCondLst>
                                  <p:childTnLst>
                                    <p:cmd type="call" cmd="playFrom(0.0)">
                                      <p:cBhvr>
                                        <p:cTn id="12" dur="3579" fill="hold"/>
                                        <p:tgtEl>
                                          <p:spTgt spid="1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7" dur="992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"/>
                  </p:tgtEl>
                </p:cond>
              </p:nextCondLst>
            </p:seq>
            <p:audio>
              <p:cMediaNode vol="80000">
                <p:cTn id="18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  <p:seq concurrent="1" nextAc="seek">
              <p:cTn id="19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0" fill="hold">
                      <p:stCondLst>
                        <p:cond delay="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23" dur="992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  <p:audio>
              <p:cMediaNode vol="80000">
                <p:cTn id="2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  <p:seq concurrent="1" nextAc="seek">
              <p:cTn id="25" restart="whenNotActive" fill="hold" evtFilter="cancelBubble" nodeType="interactiveSeq">
                <p:stCondLst>
                  <p:cond evt="onClick" delay="0">
                    <p:tgtEl>
                      <p:spTgt spid="1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6" fill="hold">
                      <p:stCondLst>
                        <p:cond delay="0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29" dur="3604" fill="hold"/>
                                        <p:tgtEl>
                                          <p:spTgt spid="1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1"/>
                  </p:tgtEl>
                </p:cond>
              </p:nextCondLst>
            </p:seq>
            <p:audio>
              <p:cMediaNode vol="80000">
                <p:cTn id="30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1"/>
                </p:tgtEl>
              </p:cMediaNode>
            </p:audio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2A1C92A-00A5-A774-61BC-3DADB71CCAEC}"/>
              </a:ext>
            </a:extLst>
          </p:cNvPr>
          <p:cNvSpPr txBox="1"/>
          <p:nvPr/>
        </p:nvSpPr>
        <p:spPr>
          <a:xfrm>
            <a:off x="247650" y="6415087"/>
            <a:ext cx="3695700" cy="2308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0" i="0" u="none" dirty="0">
                <a:solidFill>
                  <a:srgbClr val="2563EB"/>
                </a:solidFill>
                <a:latin typeface="Poppins SemiBold"/>
              </a:rPr>
              <a:t>█████░░░░░░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45EB1EB-12A8-4C78-7555-C064C72F1E0A}"/>
              </a:ext>
            </a:extLst>
          </p:cNvPr>
          <p:cNvSpPr txBox="1"/>
          <p:nvPr/>
        </p:nvSpPr>
        <p:spPr>
          <a:xfrm>
            <a:off x="7277098" y="1425516"/>
            <a:ext cx="2838451" cy="2539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GB" sz="1650" dirty="0">
                <a:solidFill>
                  <a:srgbClr val="472D33"/>
                </a:solidFill>
                <a:latin typeface="Poppins ExtraBold"/>
              </a:rPr>
              <a:t>/ˌɪr.əˈɡeɪ.ʃən/</a:t>
            </a:r>
            <a:endParaRPr sz="1650" u="none" dirty="0">
              <a:solidFill>
                <a:srgbClr val="472D33"/>
              </a:solidFill>
              <a:latin typeface="Poppins ExtraBold"/>
            </a:endParaRP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21858" y="5448760"/>
            <a:ext cx="611136" cy="47532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B967A89-D0B6-0911-7979-8252ABD5BB96}"/>
              </a:ext>
            </a:extLst>
          </p:cNvPr>
          <p:cNvSpPr txBox="1"/>
          <p:nvPr/>
        </p:nvSpPr>
        <p:spPr>
          <a:xfrm>
            <a:off x="5869858" y="380999"/>
            <a:ext cx="5781368" cy="11122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075"/>
              </a:lnSpc>
            </a:pPr>
            <a:r>
              <a:rPr lang="en-GB" sz="6600" b="0" i="0" u="none" dirty="0">
                <a:solidFill>
                  <a:srgbClr val="0F172A"/>
                </a:solidFill>
                <a:latin typeface="Poppins ExtraBold"/>
              </a:rPr>
              <a:t>irrigation</a:t>
            </a:r>
            <a:endParaRPr sz="6600" b="0" i="0" u="none" dirty="0">
              <a:solidFill>
                <a:srgbClr val="0F172A"/>
              </a:solidFill>
              <a:latin typeface="Poppins ExtraBold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02C42FA-D19F-3E1A-4385-361C1AE5B3B6}"/>
              </a:ext>
            </a:extLst>
          </p:cNvPr>
          <p:cNvSpPr txBox="1"/>
          <p:nvPr/>
        </p:nvSpPr>
        <p:spPr>
          <a:xfrm>
            <a:off x="5652935" y="1760255"/>
            <a:ext cx="5998291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000" b="1" i="0" u="none" dirty="0">
                <a:solidFill>
                  <a:srgbClr val="1E293B"/>
                </a:solidFill>
                <a:latin typeface="Poppins"/>
              </a:rPr>
              <a:t>The supply of water to land or crops to help growth.</a:t>
            </a:r>
            <a:endParaRPr sz="2000" b="1" i="0" u="none" dirty="0">
              <a:solidFill>
                <a:srgbClr val="1E293B"/>
              </a:solidFill>
              <a:latin typeface="Poppins"/>
            </a:endParaRP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70176" y="5804621"/>
            <a:ext cx="1714500" cy="9351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423991E-464C-988E-7B7C-445D9C180856}"/>
              </a:ext>
            </a:extLst>
          </p:cNvPr>
          <p:cNvSpPr txBox="1"/>
          <p:nvPr/>
        </p:nvSpPr>
        <p:spPr>
          <a:xfrm>
            <a:off x="8779074" y="2383534"/>
            <a:ext cx="3412926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6EB2755-2C05-216C-E7F7-E2AE9F2E1A93}"/>
              </a:ext>
            </a:extLst>
          </p:cNvPr>
          <p:cNvSpPr txBox="1"/>
          <p:nvPr/>
        </p:nvSpPr>
        <p:spPr>
          <a:xfrm>
            <a:off x="2006242" y="4194646"/>
            <a:ext cx="9644983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GB" sz="2400" b="0" i="0" u="none" dirty="0">
                <a:solidFill>
                  <a:srgbClr val="2A3644"/>
                </a:solidFill>
                <a:latin typeface="Poppins ExtraBold"/>
              </a:rPr>
              <a:t>The old irrigation system supplied water to all farms in the valley.</a:t>
            </a:r>
            <a:endParaRPr sz="2400" b="0" i="0" u="none" dirty="0">
              <a:solidFill>
                <a:srgbClr val="2A3644"/>
              </a:solidFill>
              <a:latin typeface="Poppins ExtraBold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A70CE9C-16FA-6AB7-2AEC-05853ABB59B8}"/>
              </a:ext>
            </a:extLst>
          </p:cNvPr>
          <p:cNvSpPr txBox="1"/>
          <p:nvPr/>
        </p:nvSpPr>
        <p:spPr>
          <a:xfrm>
            <a:off x="314325" y="6055475"/>
            <a:ext cx="23812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rgbClr val="64748B"/>
                </a:solidFill>
              </a:rPr>
              <a:t>3/3</a:t>
            </a:r>
            <a:endParaRPr lang="en-IN" b="1" dirty="0">
              <a:solidFill>
                <a:srgbClr val="64748B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6F94828-D644-2796-92D6-FAF160DB0C25}"/>
              </a:ext>
            </a:extLst>
          </p:cNvPr>
          <p:cNvSpPr txBox="1"/>
          <p:nvPr/>
        </p:nvSpPr>
        <p:spPr>
          <a:xfrm>
            <a:off x="4567832" y="2392569"/>
            <a:ext cx="472365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solidFill>
                  <a:srgbClr val="475569"/>
                </a:solidFill>
              </a:rPr>
              <a:t>सिंचाई,</a:t>
            </a:r>
          </a:p>
          <a:p>
            <a:pPr algn="ctr"/>
            <a:r>
              <a:rPr lang="en-GB" b="1" dirty="0">
                <a:solidFill>
                  <a:srgbClr val="475569"/>
                </a:solidFill>
              </a:rPr>
              <a:t> ജലസേചനം,</a:t>
            </a:r>
            <a:br>
              <a:rPr lang="en-GB" b="1" dirty="0">
                <a:solidFill>
                  <a:srgbClr val="475569"/>
                </a:solidFill>
              </a:rPr>
            </a:br>
            <a:r>
              <a:rPr lang="en-GB" b="1" dirty="0">
                <a:solidFill>
                  <a:srgbClr val="475569"/>
                </a:solidFill>
              </a:rPr>
              <a:t>பாசனம்</a:t>
            </a:r>
            <a:endParaRPr lang="en-IN" b="1" dirty="0">
              <a:solidFill>
                <a:srgbClr val="475569"/>
              </a:solidFill>
            </a:endParaRPr>
          </a:p>
        </p:txBody>
      </p:sp>
      <p:pic>
        <p:nvPicPr>
          <p:cNvPr id="20" name="Picture 19" descr="001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23367" y="728662"/>
            <a:ext cx="3344465" cy="2828776"/>
          </a:xfrm>
          <a:prstGeom prst="rect">
            <a:avLst/>
          </a:prstGeom>
        </p:spPr>
      </p:pic>
      <p:pic>
        <p:nvPicPr>
          <p:cNvPr id="6" name="past_sentence">
            <a:hlinkClick r:id="" action="ppaction://media"/>
            <a:extLst>
              <a:ext uri="{FF2B5EF4-FFF2-40B4-BE49-F238E27FC236}">
                <a16:creationId xmlns:a16="http://schemas.microsoft.com/office/drawing/2014/main" id="{EC8A05C5-912B-F763-DD7F-7F38601C399C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0" y="0"/>
            <a:ext cx="0" cy="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4862"/>
    </mc:Choice>
    <mc:Fallback>
      <p:transition spd="slow" advTm="4862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362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7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1" dur="4388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  <p:audio>
              <p:cMediaNode vol="80000">
                <p:cTn id="12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1C5957D-72BF-A1C1-2CDF-3D465AEF83B5}"/>
              </a:ext>
            </a:extLst>
          </p:cNvPr>
          <p:cNvSpPr txBox="1"/>
          <p:nvPr/>
        </p:nvSpPr>
        <p:spPr>
          <a:xfrm>
            <a:off x="247650" y="6415087"/>
            <a:ext cx="3695700" cy="2308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0" i="0" u="none" dirty="0">
                <a:solidFill>
                  <a:srgbClr val="2563EB"/>
                </a:solidFill>
                <a:latin typeface="Poppins SemiBold"/>
              </a:rPr>
              <a:t>█████░░░░░░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05401A7-5F33-EF8A-B948-FFD601450D38}"/>
              </a:ext>
            </a:extLst>
          </p:cNvPr>
          <p:cNvSpPr txBox="1"/>
          <p:nvPr/>
        </p:nvSpPr>
        <p:spPr>
          <a:xfrm>
            <a:off x="7277098" y="1425516"/>
            <a:ext cx="2838451" cy="2539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GB" sz="1650" dirty="0">
                <a:solidFill>
                  <a:srgbClr val="472D33"/>
                </a:solidFill>
                <a:latin typeface="Poppins ExtraBold"/>
              </a:rPr>
              <a:t>/ˌɪr.əˈɡeɪ.ʃən/</a:t>
            </a:r>
            <a:endParaRPr sz="1650" u="none" dirty="0">
              <a:solidFill>
                <a:srgbClr val="472D33"/>
              </a:solidFill>
              <a:latin typeface="Poppins ExtraBold"/>
            </a:endParaRP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21858" y="5448760"/>
            <a:ext cx="611136" cy="47532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D94D832-421C-0BB8-B4EF-2E8C316DDE03}"/>
              </a:ext>
            </a:extLst>
          </p:cNvPr>
          <p:cNvSpPr txBox="1"/>
          <p:nvPr/>
        </p:nvSpPr>
        <p:spPr>
          <a:xfrm>
            <a:off x="5869858" y="380999"/>
            <a:ext cx="5781368" cy="11122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075"/>
              </a:lnSpc>
            </a:pPr>
            <a:r>
              <a:rPr lang="en-GB" sz="6600" b="0" i="0" u="none" dirty="0">
                <a:solidFill>
                  <a:srgbClr val="0F172A"/>
                </a:solidFill>
                <a:latin typeface="Poppins ExtraBold"/>
              </a:rPr>
              <a:t>irrigation</a:t>
            </a:r>
            <a:endParaRPr sz="6600" b="0" i="0" u="none" dirty="0">
              <a:solidFill>
                <a:srgbClr val="0F172A"/>
              </a:solidFill>
              <a:latin typeface="Poppins ExtraBold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A53BDB0-0299-1C06-2767-B086D47E946D}"/>
              </a:ext>
            </a:extLst>
          </p:cNvPr>
          <p:cNvSpPr txBox="1"/>
          <p:nvPr/>
        </p:nvSpPr>
        <p:spPr>
          <a:xfrm>
            <a:off x="5652935" y="1760255"/>
            <a:ext cx="5998291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000" b="1" i="0" u="none" dirty="0">
                <a:solidFill>
                  <a:srgbClr val="1E293B"/>
                </a:solidFill>
                <a:latin typeface="Poppins"/>
              </a:rPr>
              <a:t>The supply of water to land or crops to help growth.</a:t>
            </a:r>
            <a:endParaRPr sz="2000" b="1" i="0" u="none" dirty="0">
              <a:solidFill>
                <a:srgbClr val="1E293B"/>
              </a:solidFill>
              <a:latin typeface="Poppins"/>
            </a:endParaRP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70176" y="5804621"/>
            <a:ext cx="1714500" cy="9351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17820A38-01D4-E7ED-BDB7-553169751532}"/>
              </a:ext>
            </a:extLst>
          </p:cNvPr>
          <p:cNvSpPr txBox="1"/>
          <p:nvPr/>
        </p:nvSpPr>
        <p:spPr>
          <a:xfrm>
            <a:off x="8779074" y="2383534"/>
            <a:ext cx="3412926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A8D98F2-5A50-2D14-CF77-9338B044F8B0}"/>
              </a:ext>
            </a:extLst>
          </p:cNvPr>
          <p:cNvSpPr txBox="1"/>
          <p:nvPr/>
        </p:nvSpPr>
        <p:spPr>
          <a:xfrm>
            <a:off x="2006242" y="4194646"/>
            <a:ext cx="9644983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GB" sz="2400" b="0" i="0" u="none" dirty="0">
                <a:solidFill>
                  <a:srgbClr val="2A3644"/>
                </a:solidFill>
                <a:latin typeface="Poppins ExtraBold"/>
              </a:rPr>
              <a:t>The old irrigation system supplied water to all farms in the valley.</a:t>
            </a:r>
            <a:endParaRPr sz="2400" b="0" i="0" u="none" dirty="0">
              <a:solidFill>
                <a:srgbClr val="2A3644"/>
              </a:solidFill>
              <a:latin typeface="Poppins ExtraBold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5D4EDAF-AC6D-61E3-3AE8-5AF4B7AA566D}"/>
              </a:ext>
            </a:extLst>
          </p:cNvPr>
          <p:cNvSpPr txBox="1"/>
          <p:nvPr/>
        </p:nvSpPr>
        <p:spPr>
          <a:xfrm>
            <a:off x="2895599" y="4948361"/>
            <a:ext cx="86671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>
                <a:solidFill>
                  <a:srgbClr val="2A3644"/>
                </a:solidFill>
                <a:latin typeface="Poppins ExtraBold" panose="00000900000000000000" pitchFamily="2" charset="0"/>
                <a:cs typeface="Poppins ExtraBold" panose="00000900000000000000" pitchFamily="2" charset="0"/>
              </a:rPr>
              <a:t>Modern irrigation provides enough water for crops during dry weather conditions.</a:t>
            </a:r>
            <a:endParaRPr lang="en-IN" sz="2400" b="1" dirty="0">
              <a:solidFill>
                <a:srgbClr val="2A3644"/>
              </a:solidFill>
              <a:latin typeface="Poppins ExtraBold" panose="00000900000000000000" pitchFamily="2" charset="0"/>
              <a:cs typeface="Poppins ExtraBold" panose="00000900000000000000" pitchFamily="2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9958E69-D62B-402C-537C-2585F5407329}"/>
              </a:ext>
            </a:extLst>
          </p:cNvPr>
          <p:cNvSpPr txBox="1"/>
          <p:nvPr/>
        </p:nvSpPr>
        <p:spPr>
          <a:xfrm>
            <a:off x="314325" y="6055475"/>
            <a:ext cx="23812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rgbClr val="64748B"/>
                </a:solidFill>
              </a:rPr>
              <a:t>3/3</a:t>
            </a:r>
            <a:endParaRPr lang="en-IN" b="1" dirty="0">
              <a:solidFill>
                <a:srgbClr val="64748B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D98B3D8-B85C-5D71-F240-2608622284BF}"/>
              </a:ext>
            </a:extLst>
          </p:cNvPr>
          <p:cNvSpPr txBox="1"/>
          <p:nvPr/>
        </p:nvSpPr>
        <p:spPr>
          <a:xfrm>
            <a:off x="4567832" y="2392569"/>
            <a:ext cx="472365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solidFill>
                  <a:srgbClr val="475569"/>
                </a:solidFill>
              </a:rPr>
              <a:t>सिंचाई,</a:t>
            </a:r>
          </a:p>
          <a:p>
            <a:pPr algn="ctr"/>
            <a:r>
              <a:rPr lang="en-GB" b="1" dirty="0">
                <a:solidFill>
                  <a:srgbClr val="475569"/>
                </a:solidFill>
              </a:rPr>
              <a:t> ജലസേചനം,</a:t>
            </a:r>
            <a:br>
              <a:rPr lang="en-GB" b="1" dirty="0">
                <a:solidFill>
                  <a:srgbClr val="475569"/>
                </a:solidFill>
              </a:rPr>
            </a:br>
            <a:r>
              <a:rPr lang="en-GB" b="1" dirty="0">
                <a:solidFill>
                  <a:srgbClr val="475569"/>
                </a:solidFill>
              </a:rPr>
              <a:t>பாசனம்</a:t>
            </a:r>
            <a:endParaRPr lang="en-IN" b="1" dirty="0">
              <a:solidFill>
                <a:srgbClr val="475569"/>
              </a:solidFill>
            </a:endParaRPr>
          </a:p>
        </p:txBody>
      </p:sp>
      <p:pic>
        <p:nvPicPr>
          <p:cNvPr id="23" name="Picture 22" descr="001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23367" y="728662"/>
            <a:ext cx="3344465" cy="2828776"/>
          </a:xfrm>
          <a:prstGeom prst="rect">
            <a:avLst/>
          </a:prstGeom>
        </p:spPr>
      </p:pic>
      <p:pic>
        <p:nvPicPr>
          <p:cNvPr id="6" name="present_sentence">
            <a:hlinkClick r:id="" action="ppaction://media"/>
            <a:extLst>
              <a:ext uri="{FF2B5EF4-FFF2-40B4-BE49-F238E27FC236}">
                <a16:creationId xmlns:a16="http://schemas.microsoft.com/office/drawing/2014/main" id="{FE4F5607-050E-868B-2AA9-AF140418E2D3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0" y="0"/>
            <a:ext cx="0" cy="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5124"/>
    </mc:Choice>
    <mc:Fallback>
      <p:transition spd="slow" advTm="5124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624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7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1" dur="4649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  <p:audio>
              <p:cMediaNode vol="80000">
                <p:cTn id="12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7D54AEB-14D2-6B3E-61DD-29C1EC335912}"/>
              </a:ext>
            </a:extLst>
          </p:cNvPr>
          <p:cNvSpPr txBox="1"/>
          <p:nvPr/>
        </p:nvSpPr>
        <p:spPr>
          <a:xfrm>
            <a:off x="247650" y="6415087"/>
            <a:ext cx="3695700" cy="2308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0" i="0" u="none" dirty="0">
                <a:solidFill>
                  <a:srgbClr val="2563EB"/>
                </a:solidFill>
                <a:latin typeface="Poppins SemiBold"/>
              </a:rPr>
              <a:t>█████░░░░░░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DAEFFF9-A6D7-E055-48B4-F328F40CD214}"/>
              </a:ext>
            </a:extLst>
          </p:cNvPr>
          <p:cNvSpPr txBox="1"/>
          <p:nvPr/>
        </p:nvSpPr>
        <p:spPr>
          <a:xfrm>
            <a:off x="7277098" y="1435579"/>
            <a:ext cx="2838451" cy="2539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GB" sz="1650" dirty="0">
                <a:solidFill>
                  <a:srgbClr val="472D33"/>
                </a:solidFill>
                <a:latin typeface="Poppins ExtraBold"/>
              </a:rPr>
              <a:t>/ˌɪr.əˈɡeɪ.ʃən/</a:t>
            </a:r>
            <a:endParaRPr sz="1650" u="none" dirty="0">
              <a:solidFill>
                <a:srgbClr val="472D33"/>
              </a:solidFill>
              <a:latin typeface="Poppins ExtraBold"/>
            </a:endParaRP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21858" y="5448760"/>
            <a:ext cx="611136" cy="47532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E19242B-B8EF-E742-6363-D66D6E904EA3}"/>
              </a:ext>
            </a:extLst>
          </p:cNvPr>
          <p:cNvSpPr txBox="1"/>
          <p:nvPr/>
        </p:nvSpPr>
        <p:spPr>
          <a:xfrm>
            <a:off x="5869858" y="380999"/>
            <a:ext cx="5781368" cy="11122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075"/>
              </a:lnSpc>
            </a:pPr>
            <a:r>
              <a:rPr lang="en-GB" sz="6600" b="0" i="0" u="none" dirty="0">
                <a:solidFill>
                  <a:srgbClr val="0F172A"/>
                </a:solidFill>
                <a:latin typeface="Poppins ExtraBold"/>
              </a:rPr>
              <a:t>irrigation</a:t>
            </a:r>
            <a:endParaRPr sz="6600" b="0" i="0" u="none" dirty="0">
              <a:solidFill>
                <a:srgbClr val="0F172A"/>
              </a:solidFill>
              <a:latin typeface="Poppins ExtraBold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9FA01F0-8011-B7A8-5886-E85AF764AA61}"/>
              </a:ext>
            </a:extLst>
          </p:cNvPr>
          <p:cNvSpPr txBox="1"/>
          <p:nvPr/>
        </p:nvSpPr>
        <p:spPr>
          <a:xfrm>
            <a:off x="5652935" y="1760255"/>
            <a:ext cx="5998291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000" b="1" i="0" u="none" dirty="0">
                <a:solidFill>
                  <a:srgbClr val="1E293B"/>
                </a:solidFill>
                <a:latin typeface="Poppins"/>
              </a:rPr>
              <a:t>The supply of water to land or crops to help growth.</a:t>
            </a:r>
            <a:endParaRPr sz="2000" b="1" i="0" u="none" dirty="0">
              <a:solidFill>
                <a:srgbClr val="1E293B"/>
              </a:solidFill>
              <a:latin typeface="Poppins"/>
            </a:endParaRP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70176" y="5804621"/>
            <a:ext cx="1714500" cy="9351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177578E5-5932-FA5C-39E7-2BE2D9C2CF6B}"/>
              </a:ext>
            </a:extLst>
          </p:cNvPr>
          <p:cNvSpPr txBox="1"/>
          <p:nvPr/>
        </p:nvSpPr>
        <p:spPr>
          <a:xfrm>
            <a:off x="8779074" y="2383534"/>
            <a:ext cx="3412926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234DFEC-C01E-8667-4AB0-67B44270F3F0}"/>
              </a:ext>
            </a:extLst>
          </p:cNvPr>
          <p:cNvSpPr txBox="1"/>
          <p:nvPr/>
        </p:nvSpPr>
        <p:spPr>
          <a:xfrm>
            <a:off x="2006242" y="4194646"/>
            <a:ext cx="9644983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GB" sz="2400" b="0" i="0" u="none" dirty="0">
                <a:solidFill>
                  <a:srgbClr val="2A3644"/>
                </a:solidFill>
                <a:latin typeface="Poppins ExtraBold"/>
              </a:rPr>
              <a:t>The old irrigation system supplied water to all farms in the valley.</a:t>
            </a:r>
            <a:endParaRPr sz="2400" b="0" i="0" u="none" dirty="0">
              <a:solidFill>
                <a:srgbClr val="2A3644"/>
              </a:solidFill>
              <a:latin typeface="Poppins ExtraBold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B52620E-AE51-05B1-BFE9-0843E5D61517}"/>
              </a:ext>
            </a:extLst>
          </p:cNvPr>
          <p:cNvSpPr txBox="1"/>
          <p:nvPr/>
        </p:nvSpPr>
        <p:spPr>
          <a:xfrm>
            <a:off x="2895599" y="4948361"/>
            <a:ext cx="80715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>
                <a:solidFill>
                  <a:srgbClr val="2A3644"/>
                </a:solidFill>
                <a:latin typeface="Poppins ExtraBold" panose="00000900000000000000" pitchFamily="2" charset="0"/>
                <a:cs typeface="Poppins ExtraBold" panose="00000900000000000000" pitchFamily="2" charset="0"/>
              </a:rPr>
              <a:t>Modern irrigation provides enough water for crops during dry weather conditions.</a:t>
            </a:r>
            <a:endParaRPr lang="en-IN" sz="2400" b="1" dirty="0">
              <a:solidFill>
                <a:srgbClr val="2A3644"/>
              </a:solidFill>
              <a:latin typeface="Poppins ExtraBold" panose="00000900000000000000" pitchFamily="2" charset="0"/>
              <a:cs typeface="Poppins ExtraBold" panose="00000900000000000000" pitchFamily="2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799948D-503D-1BC8-A206-EA54AED1F16D}"/>
              </a:ext>
            </a:extLst>
          </p:cNvPr>
          <p:cNvSpPr txBox="1"/>
          <p:nvPr/>
        </p:nvSpPr>
        <p:spPr>
          <a:xfrm>
            <a:off x="3794638" y="5554756"/>
            <a:ext cx="746821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>
                <a:solidFill>
                  <a:srgbClr val="2A3644"/>
                </a:solidFill>
                <a:latin typeface="Poppins ExtraBold" panose="00000900000000000000" pitchFamily="2" charset="0"/>
                <a:cs typeface="Poppins ExtraBold" panose="00000900000000000000" pitchFamily="2" charset="0"/>
              </a:rPr>
              <a:t>A new irrigation project will help farmers grow crops during dry summer.</a:t>
            </a:r>
            <a:endParaRPr lang="en-IN" sz="2400" b="1" dirty="0">
              <a:solidFill>
                <a:srgbClr val="2A3644"/>
              </a:solidFill>
              <a:latin typeface="Poppins ExtraBold" panose="00000900000000000000" pitchFamily="2" charset="0"/>
              <a:cs typeface="Poppins ExtraBold" panose="00000900000000000000" pitchFamily="2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EB5960A-98FD-C624-A616-C23C3B183BE0}"/>
              </a:ext>
            </a:extLst>
          </p:cNvPr>
          <p:cNvSpPr txBox="1"/>
          <p:nvPr/>
        </p:nvSpPr>
        <p:spPr>
          <a:xfrm>
            <a:off x="314325" y="6055475"/>
            <a:ext cx="23812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rgbClr val="64748B"/>
                </a:solidFill>
              </a:rPr>
              <a:t>3/3</a:t>
            </a:r>
            <a:endParaRPr lang="en-IN" b="1" dirty="0">
              <a:solidFill>
                <a:srgbClr val="64748B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1AE4CF2-87B2-9E90-5571-EBB293BCDA70}"/>
              </a:ext>
            </a:extLst>
          </p:cNvPr>
          <p:cNvSpPr txBox="1"/>
          <p:nvPr/>
        </p:nvSpPr>
        <p:spPr>
          <a:xfrm>
            <a:off x="4567832" y="2392569"/>
            <a:ext cx="472365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solidFill>
                  <a:srgbClr val="475569"/>
                </a:solidFill>
              </a:rPr>
              <a:t>सिंचाई,</a:t>
            </a:r>
          </a:p>
          <a:p>
            <a:pPr algn="ctr"/>
            <a:r>
              <a:rPr lang="en-GB" b="1" dirty="0">
                <a:solidFill>
                  <a:srgbClr val="475569"/>
                </a:solidFill>
              </a:rPr>
              <a:t> ജലസേചനം,</a:t>
            </a:r>
            <a:br>
              <a:rPr lang="en-GB" b="1" dirty="0">
                <a:solidFill>
                  <a:srgbClr val="475569"/>
                </a:solidFill>
              </a:rPr>
            </a:br>
            <a:r>
              <a:rPr lang="en-GB" b="1" dirty="0">
                <a:solidFill>
                  <a:srgbClr val="475569"/>
                </a:solidFill>
              </a:rPr>
              <a:t>பாசனம்</a:t>
            </a:r>
            <a:endParaRPr lang="en-IN" b="1" dirty="0">
              <a:solidFill>
                <a:srgbClr val="475569"/>
              </a:solidFill>
            </a:endParaRPr>
          </a:p>
        </p:txBody>
      </p:sp>
      <p:pic>
        <p:nvPicPr>
          <p:cNvPr id="21" name="Picture 20" descr="001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23367" y="728662"/>
            <a:ext cx="3344465" cy="2828776"/>
          </a:xfrm>
          <a:prstGeom prst="rect">
            <a:avLst/>
          </a:prstGeom>
        </p:spPr>
      </p:pic>
      <p:pic>
        <p:nvPicPr>
          <p:cNvPr id="6" name="future_sentence">
            <a:hlinkClick r:id="" action="ppaction://media"/>
            <a:extLst>
              <a:ext uri="{FF2B5EF4-FFF2-40B4-BE49-F238E27FC236}">
                <a16:creationId xmlns:a16="http://schemas.microsoft.com/office/drawing/2014/main" id="{7EAC3878-0CC8-88E0-1801-FD28F591907D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0" y="0"/>
            <a:ext cx="0" cy="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4993"/>
    </mc:Choice>
    <mc:Fallback>
      <p:transition spd="slow" advTm="4993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493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7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1" dur="4519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  <p:audio>
              <p:cMediaNode vol="80000">
                <p:cTn id="12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93</TotalTime>
  <Words>655</Words>
  <Application>Microsoft Office PowerPoint</Application>
  <PresentationFormat>Widescreen</PresentationFormat>
  <Paragraphs>114</Paragraphs>
  <Slides>12</Slides>
  <Notes>0</Notes>
  <HiddenSlides>0</HiddenSlides>
  <MMClips>18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9" baseType="lpstr">
      <vt:lpstr>Arial</vt:lpstr>
      <vt:lpstr>Calibri</vt:lpstr>
      <vt:lpstr>Noto Sans SemiBold</vt:lpstr>
      <vt:lpstr>Poppins</vt:lpstr>
      <vt:lpstr>Poppins ExtraBold</vt:lpstr>
      <vt:lpstr>Poppins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Dell</dc:creator>
  <cp:keywords/>
  <dc:description>generated using python-pptx</dc:description>
  <cp:lastModifiedBy>Prince N R</cp:lastModifiedBy>
  <cp:revision>12</cp:revision>
  <dcterms:created xsi:type="dcterms:W3CDTF">2013-01-27T09:14:16Z</dcterms:created>
  <dcterms:modified xsi:type="dcterms:W3CDTF">2026-08-10T11:55:32Z</dcterms:modified>
  <cp:category/>
</cp:coreProperties>
</file>